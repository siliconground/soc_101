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0" r:id="rId2"/>
    <p:sldId id="658" r:id="rId3"/>
    <p:sldId id="659" r:id="rId4"/>
    <p:sldId id="652" r:id="rId5"/>
    <p:sldId id="703" r:id="rId6"/>
    <p:sldId id="704" r:id="rId7"/>
    <p:sldId id="705" r:id="rId8"/>
    <p:sldId id="706" r:id="rId9"/>
    <p:sldId id="707" r:id="rId10"/>
    <p:sldId id="708" r:id="rId11"/>
    <p:sldId id="682" r:id="rId12"/>
    <p:sldId id="644" r:id="rId13"/>
    <p:sldId id="712" r:id="rId14"/>
    <p:sldId id="716" r:id="rId15"/>
    <p:sldId id="715" r:id="rId16"/>
    <p:sldId id="727" r:id="rId17"/>
    <p:sldId id="645" r:id="rId18"/>
    <p:sldId id="717" r:id="rId19"/>
    <p:sldId id="720" r:id="rId20"/>
    <p:sldId id="718" r:id="rId21"/>
    <p:sldId id="725" r:id="rId22"/>
    <p:sldId id="721" r:id="rId23"/>
    <p:sldId id="722" r:id="rId24"/>
    <p:sldId id="646" r:id="rId25"/>
    <p:sldId id="726" r:id="rId26"/>
    <p:sldId id="723" r:id="rId27"/>
    <p:sldId id="724" r:id="rId28"/>
    <p:sldId id="719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59"/>
            <p14:sldId id="652"/>
            <p14:sldId id="703"/>
            <p14:sldId id="704"/>
            <p14:sldId id="705"/>
            <p14:sldId id="706"/>
            <p14:sldId id="707"/>
            <p14:sldId id="708"/>
            <p14:sldId id="682"/>
            <p14:sldId id="644"/>
            <p14:sldId id="712"/>
            <p14:sldId id="716"/>
            <p14:sldId id="715"/>
            <p14:sldId id="727"/>
            <p14:sldId id="645"/>
            <p14:sldId id="717"/>
            <p14:sldId id="720"/>
            <p14:sldId id="718"/>
            <p14:sldId id="725"/>
            <p14:sldId id="721"/>
            <p14:sldId id="722"/>
            <p14:sldId id="646"/>
            <p14:sldId id="726"/>
            <p14:sldId id="723"/>
            <p14:sldId id="724"/>
            <p14:sldId id="7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9056" autoAdjust="0"/>
  </p:normalViewPr>
  <p:slideViewPr>
    <p:cSldViewPr snapToGrid="0" showGuides="1">
      <p:cViewPr varScale="1">
        <p:scale>
          <a:sx n="123" d="100"/>
          <a:sy n="123" d="100"/>
        </p:scale>
        <p:origin x="1290" y="108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228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6755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616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668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8170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8694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10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712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430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5581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426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8838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362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527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196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043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485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818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4594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6798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1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2026-05-19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SoC101 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| 2026-1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5159080"/>
            <a:ext cx="7689344" cy="438950"/>
          </a:xfrm>
        </p:spPr>
        <p:txBody>
          <a:bodyPr/>
          <a:lstStyle/>
          <a:p>
            <a:r>
              <a:rPr lang="en-US" altLang="ko-KR" dirty="0"/>
              <a:t>Session7 : Sequential Logic Blocks(2)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Basic Sequential Blocks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Register Map / Memory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Understanding Finite State Machine(FSM)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Moore Machine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Mealy  Machine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LABS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Register Map &amp; Memory</a:t>
            </a:r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448F-6079-0C45-4B87-A83AC037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2C651-CF64-7119-E709-F37FB87E58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198" y="292064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Register Map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5439FDF-EE93-AE1B-97DE-5CFDC9987FB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9558189"/>
              </p:ext>
            </p:extLst>
          </p:nvPr>
        </p:nvGraphicFramePr>
        <p:xfrm>
          <a:off x="2565721" y="4577444"/>
          <a:ext cx="6690439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306616">
                  <a:extLst>
                    <a:ext uri="{9D8B030D-6E8A-4147-A177-3AD203B41FA5}">
                      <a16:colId xmlns:a16="http://schemas.microsoft.com/office/drawing/2014/main" val="1049033429"/>
                    </a:ext>
                  </a:extLst>
                </a:gridCol>
                <a:gridCol w="1925515">
                  <a:extLst>
                    <a:ext uri="{9D8B030D-6E8A-4147-A177-3AD203B41FA5}">
                      <a16:colId xmlns:a16="http://schemas.microsoft.com/office/drawing/2014/main" val="3546661978"/>
                    </a:ext>
                  </a:extLst>
                </a:gridCol>
                <a:gridCol w="1723293">
                  <a:extLst>
                    <a:ext uri="{9D8B030D-6E8A-4147-A177-3AD203B41FA5}">
                      <a16:colId xmlns:a16="http://schemas.microsoft.com/office/drawing/2014/main" val="160897538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1669808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주소 </a:t>
                      </a:r>
                      <a:r>
                        <a:rPr lang="en-US" altLang="ko-KR" b="0">
                          <a:effectLst/>
                        </a:rPr>
                        <a:t>(</a:t>
                      </a:r>
                      <a:r>
                        <a:rPr lang="en-CA" b="0">
                          <a:effectLst/>
                        </a:rPr>
                        <a:t>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읽기</a:t>
                      </a:r>
                      <a:r>
                        <a:rPr lang="en-US" altLang="ko-KR" b="0">
                          <a:effectLst/>
                        </a:rPr>
                        <a:t>/</a:t>
                      </a:r>
                      <a:r>
                        <a:rPr lang="ko-KR" altLang="en-US" b="0">
                          <a:effectLst/>
                        </a:rPr>
                        <a:t>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54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하드웨어 제어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7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하드웨어 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621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DATA_IN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입력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43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DATA_OUT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출력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405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072082-2D19-EFA5-8E5F-34C1E1A90A41}"/>
              </a:ext>
            </a:extLst>
          </p:cNvPr>
          <p:cNvSpPr txBox="1"/>
          <p:nvPr/>
        </p:nvSpPr>
        <p:spPr>
          <a:xfrm>
            <a:off x="4057066" y="390370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레지스터 맵</a:t>
            </a:r>
            <a:r>
              <a:rPr lang="en-US" altLang="ko-KR" dirty="0"/>
              <a:t>(</a:t>
            </a:r>
            <a:r>
              <a:rPr lang="en-CA" altLang="ko-KR" dirty="0"/>
              <a:t>Register Map) </a:t>
            </a:r>
            <a:r>
              <a:rPr lang="ko-KR" altLang="en-US" dirty="0"/>
              <a:t>예시</a:t>
            </a:r>
            <a:endParaRPr lang="en-CA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40B3EA-474B-5407-6F5B-24C43AEF6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129" y="1189077"/>
            <a:ext cx="84296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6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BF2CB-4575-FE13-5006-73B6EB933F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0486" y="306692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Memory Map</a:t>
            </a:r>
            <a:endParaRPr lang="en-CA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16C7070-845D-BF5D-32D0-E30D0076AB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486" y="985295"/>
            <a:ext cx="10515600" cy="349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메모리 맵</a:t>
            </a:r>
            <a:r>
              <a:rPr lang="en-US" altLang="ko-KR" sz="2400" dirty="0">
                <a:latin typeface="+mn-ea"/>
              </a:rPr>
              <a:t>(</a:t>
            </a:r>
            <a:r>
              <a:rPr lang="en-CA" sz="2400" dirty="0">
                <a:latin typeface="+mn-ea"/>
              </a:rPr>
              <a:t>Memory Map)</a:t>
            </a:r>
          </a:p>
          <a:p>
            <a:r>
              <a:rPr lang="ko-KR" altLang="en-US" sz="2400" dirty="0">
                <a:latin typeface="+mn-ea"/>
              </a:rPr>
              <a:t>**메모리 맵**은 </a:t>
            </a:r>
            <a:r>
              <a:rPr lang="en-US" altLang="ko-KR" sz="2400" dirty="0">
                <a:latin typeface="+mn-ea"/>
              </a:rPr>
              <a:t>SoC</a:t>
            </a:r>
            <a:r>
              <a:rPr lang="ko-KR" altLang="en-US" sz="2400" dirty="0">
                <a:latin typeface="+mn-ea"/>
              </a:rPr>
              <a:t>에서 사용 가능한 메모리 공간을 정의한 것입니다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lvl="1"/>
            <a:r>
              <a:rPr lang="en-US" altLang="ko-KR" sz="1800" dirty="0">
                <a:latin typeface="+mn-ea"/>
              </a:rPr>
              <a:t>CPU</a:t>
            </a:r>
            <a:r>
              <a:rPr lang="ko-KR" altLang="en-US" sz="1800" dirty="0">
                <a:latin typeface="+mn-ea"/>
              </a:rPr>
              <a:t>가 접근할 수 있는 모든 메모리 영역을 포함하며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각 영역은 특정 용도로 나뉩니다</a:t>
            </a:r>
            <a:r>
              <a:rPr lang="en-US" altLang="ko-KR" sz="1800" dirty="0">
                <a:latin typeface="+mn-ea"/>
              </a:rPr>
              <a:t>.</a:t>
            </a:r>
            <a:endParaRPr lang="en-US" altLang="ko-KR" sz="105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특징</a:t>
            </a:r>
          </a:p>
          <a:p>
            <a:pPr lvl="1"/>
            <a:r>
              <a:rPr lang="ko-KR" altLang="en-US" sz="1800" dirty="0">
                <a:latin typeface="+mn-ea"/>
              </a:rPr>
              <a:t>주소 공간 분할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메모리는 코드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데이터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스택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외부 장치 등으로 분할됩니다</a:t>
            </a:r>
            <a:r>
              <a:rPr lang="en-US" altLang="ko-KR" sz="1800" dirty="0">
                <a:latin typeface="+mn-ea"/>
              </a:rPr>
              <a:t>.</a:t>
            </a:r>
            <a:endParaRPr lang="en-US" altLang="ko-KR" sz="105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장치 매핑</a:t>
            </a:r>
            <a:r>
              <a:rPr lang="en-US" altLang="ko-KR" sz="2400" dirty="0">
                <a:latin typeface="+mn-ea"/>
              </a:rPr>
              <a:t>: </a:t>
            </a:r>
          </a:p>
          <a:p>
            <a:pPr lvl="1"/>
            <a:r>
              <a:rPr lang="ko-KR" altLang="en-US" sz="1800" dirty="0">
                <a:latin typeface="+mn-ea"/>
              </a:rPr>
              <a:t>외부 장치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UART, SPI </a:t>
            </a:r>
            <a:r>
              <a:rPr lang="ko-KR" altLang="en-US" sz="1800" dirty="0">
                <a:latin typeface="+mn-ea"/>
              </a:rPr>
              <a:t>등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는 메모리 주소에 </a:t>
            </a:r>
            <a:r>
              <a:rPr lang="ko-KR" altLang="en-US" sz="1800" dirty="0" err="1">
                <a:latin typeface="+mn-ea"/>
              </a:rPr>
              <a:t>매핑되어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CPU</a:t>
            </a:r>
            <a:r>
              <a:rPr lang="ko-KR" altLang="en-US" sz="1800" dirty="0">
                <a:latin typeface="+mn-ea"/>
              </a:rPr>
              <a:t>가 이를 제어할 수 있습니다</a:t>
            </a:r>
            <a:r>
              <a:rPr lang="en-US" altLang="ko-KR" sz="1800" dirty="0">
                <a:latin typeface="+mn-ea"/>
              </a:rPr>
              <a:t>.</a:t>
            </a:r>
            <a:endParaRPr lang="en-US" altLang="ko-KR" sz="105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효율적 설계</a:t>
            </a:r>
            <a:r>
              <a:rPr lang="en-US" altLang="ko-KR" sz="2400" dirty="0">
                <a:latin typeface="+mn-ea"/>
              </a:rPr>
              <a:t>: </a:t>
            </a:r>
          </a:p>
          <a:p>
            <a:pPr lvl="1"/>
            <a:r>
              <a:rPr lang="ko-KR" altLang="en-US" sz="1800" dirty="0">
                <a:latin typeface="+mn-ea"/>
              </a:rPr>
              <a:t>메모리 </a:t>
            </a:r>
            <a:r>
              <a:rPr lang="ko-KR" altLang="en-US" sz="1800" dirty="0" err="1">
                <a:latin typeface="+mn-ea"/>
              </a:rPr>
              <a:t>맵을</a:t>
            </a:r>
            <a:r>
              <a:rPr lang="ko-KR" altLang="en-US" sz="1800" dirty="0">
                <a:latin typeface="+mn-ea"/>
              </a:rPr>
              <a:t> 통해 데이터와 장치 간의 효율적인 접근이 가능합니다</a:t>
            </a:r>
            <a:r>
              <a:rPr lang="en-US" altLang="ko-KR" sz="1800" dirty="0">
                <a:latin typeface="+mn-ea"/>
              </a:rPr>
              <a:t>.</a:t>
            </a:r>
            <a:endParaRPr lang="en-CA" sz="18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E5E6A06-78EB-B661-680F-792FB2BD2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994912"/>
              </p:ext>
            </p:extLst>
          </p:nvPr>
        </p:nvGraphicFramePr>
        <p:xfrm>
          <a:off x="1054359" y="4907714"/>
          <a:ext cx="9016482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3005494">
                  <a:extLst>
                    <a:ext uri="{9D8B030D-6E8A-4147-A177-3AD203B41FA5}">
                      <a16:colId xmlns:a16="http://schemas.microsoft.com/office/drawing/2014/main" val="3463101013"/>
                    </a:ext>
                  </a:extLst>
                </a:gridCol>
                <a:gridCol w="3005494">
                  <a:extLst>
                    <a:ext uri="{9D8B030D-6E8A-4147-A177-3AD203B41FA5}">
                      <a16:colId xmlns:a16="http://schemas.microsoft.com/office/drawing/2014/main" val="1019023692"/>
                    </a:ext>
                  </a:extLst>
                </a:gridCol>
                <a:gridCol w="3005494">
                  <a:extLst>
                    <a:ext uri="{9D8B030D-6E8A-4147-A177-3AD203B41FA5}">
                      <a16:colId xmlns:a16="http://schemas.microsoft.com/office/drawing/2014/main" val="3327135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주소 범위 </a:t>
                      </a:r>
                      <a:r>
                        <a:rPr lang="en-US" altLang="ko-KR" b="0">
                          <a:effectLst/>
                        </a:rPr>
                        <a:t>(</a:t>
                      </a:r>
                      <a:r>
                        <a:rPr lang="en-CA" b="0">
                          <a:effectLst/>
                        </a:rPr>
                        <a:t>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22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0x00000000~0x0000FFFF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부트 코드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91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0x00010000~0x0001FFFF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실행 중인 프로그램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73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0x80000000~0x80000FFF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UART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>
                          <a:effectLst/>
                        </a:rPr>
                        <a:t>UART </a:t>
                      </a:r>
                      <a:r>
                        <a:rPr lang="ko-KR" altLang="en-US">
                          <a:effectLst/>
                        </a:rPr>
                        <a:t>제어 및 데이터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4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0x90000000~0x90000FFF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GPIO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dirty="0">
                          <a:effectLst/>
                        </a:rPr>
                        <a:t>GPIO </a:t>
                      </a:r>
                      <a:r>
                        <a:rPr lang="ko-KR" altLang="en-US" dirty="0">
                          <a:effectLst/>
                        </a:rPr>
                        <a:t>핀 설정 및 상태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04926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1A5DC3-4FC0-B0DD-D25D-1569142B7391}"/>
              </a:ext>
            </a:extLst>
          </p:cNvPr>
          <p:cNvSpPr txBox="1"/>
          <p:nvPr/>
        </p:nvSpPr>
        <p:spPr>
          <a:xfrm>
            <a:off x="1054359" y="453838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예시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6646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F40AD-5C5A-63B2-1D53-1947CAA364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4543" y="370680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Memory Management with Register Map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55CFD3-3BBB-79B4-743B-9D9C16D0DC4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20775"/>
            <a:ext cx="10515600" cy="505618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n-ea"/>
              </a:rPr>
              <a:t>레지스터 맵</a:t>
            </a:r>
            <a:r>
              <a:rPr lang="en-US" altLang="ko-KR" sz="2000" dirty="0">
                <a:latin typeface="+mn-ea"/>
              </a:rPr>
              <a:t>(Register Map)</a:t>
            </a:r>
            <a:r>
              <a:rPr lang="ko-KR" altLang="en-US" sz="2000" dirty="0">
                <a:latin typeface="+mn-ea"/>
              </a:rPr>
              <a:t>은 하드웨어 모듈의 제어 및 상태 정보를 특정 메모리 주소에 매핑하여 소프트웨어가 이를 효율적으로 관리</a:t>
            </a:r>
            <a:endParaRPr lang="en-CA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하드웨어와 소프트웨어 간의 상호작용이 체계적으로 이루어지며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메모리 관리가 간소화</a:t>
            </a:r>
            <a:endParaRPr lang="en-CA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레지스터 </a:t>
            </a:r>
            <a:r>
              <a:rPr lang="ko-KR" altLang="en-US" sz="2000" dirty="0" err="1">
                <a:latin typeface="+mn-ea"/>
              </a:rPr>
              <a:t>맵을</a:t>
            </a:r>
            <a:r>
              <a:rPr lang="ko-KR" altLang="en-US" sz="2000" dirty="0">
                <a:latin typeface="+mn-ea"/>
              </a:rPr>
              <a:t> 통한 메모리 관리의 주요 원칙</a:t>
            </a:r>
            <a:endParaRPr lang="en-CA" sz="1600" dirty="0">
              <a:latin typeface="+mn-ea"/>
            </a:endParaRPr>
          </a:p>
        </p:txBody>
      </p:sp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8C4CC892-BE18-4DB6-F0AC-06C440B663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89688" y="2811644"/>
          <a:ext cx="10812623" cy="270159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56271">
                  <a:extLst>
                    <a:ext uri="{9D8B030D-6E8A-4147-A177-3AD203B41FA5}">
                      <a16:colId xmlns:a16="http://schemas.microsoft.com/office/drawing/2014/main" val="1203412437"/>
                    </a:ext>
                  </a:extLst>
                </a:gridCol>
                <a:gridCol w="8956352">
                  <a:extLst>
                    <a:ext uri="{9D8B030D-6E8A-4147-A177-3AD203B41FA5}">
                      <a16:colId xmlns:a16="http://schemas.microsoft.com/office/drawing/2014/main" val="2714847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800" b="0" dirty="0">
                          <a:effectLst/>
                        </a:rPr>
                        <a:t>원칙</a:t>
                      </a:r>
                    </a:p>
                  </a:txBody>
                  <a:tcPr marL="51073" marR="51073" marT="25536" marB="25536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800" b="0" dirty="0">
                          <a:effectLst/>
                        </a:rPr>
                        <a:t>설명</a:t>
                      </a:r>
                    </a:p>
                  </a:txBody>
                  <a:tcPr marL="51073" marR="51073" marT="25536" marB="25536"/>
                </a:tc>
                <a:extLst>
                  <a:ext uri="{0D108BD9-81ED-4DB2-BD59-A6C34878D82A}">
                    <a16:rowId xmlns:a16="http://schemas.microsoft.com/office/drawing/2014/main" val="3295573009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주소 공간 분할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각 레지스터에 고유한 메모리 주소를 할당하여 하드웨어 모듈 간 충돌을 방지하고 체계적으로 관리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988209288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효율적인 접근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>
                          <a:effectLst/>
                        </a:rPr>
                        <a:t>CPU</a:t>
                      </a:r>
                      <a:r>
                        <a:rPr lang="ko-KR" altLang="en-US" sz="1600">
                          <a:effectLst/>
                        </a:rPr>
                        <a:t>가 특정 주소를 통해 하드웨어를 제어하거나 상태를 읽음으로써 빠르고 간단한 데이터 처리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199691454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읽기</a:t>
                      </a:r>
                      <a:r>
                        <a:rPr lang="en-US" altLang="ko-KR" sz="1800" b="0" dirty="0">
                          <a:effectLst/>
                        </a:rPr>
                        <a:t>/</a:t>
                      </a:r>
                      <a:r>
                        <a:rPr lang="ko-KR" altLang="en-US" sz="1800" b="0" dirty="0">
                          <a:effectLst/>
                        </a:rPr>
                        <a:t>쓰기 권한 설정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레지스터마다 읽기</a:t>
                      </a:r>
                      <a:r>
                        <a:rPr lang="en-US" altLang="ko-KR" sz="1600">
                          <a:effectLst/>
                        </a:rPr>
                        <a:t>(Read), 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(Write), </a:t>
                      </a:r>
                      <a:r>
                        <a:rPr lang="ko-KR" altLang="en-US" sz="1600">
                          <a:effectLst/>
                        </a:rPr>
                        <a:t>읽기</a:t>
                      </a:r>
                      <a:r>
                        <a:rPr lang="en-US" altLang="ko-KR" sz="1600">
                          <a:effectLst/>
                        </a:rPr>
                        <a:t>-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(Read-Write) </a:t>
                      </a:r>
                      <a:r>
                        <a:rPr lang="ko-KR" altLang="en-US" sz="1600">
                          <a:effectLst/>
                        </a:rPr>
                        <a:t>권한을 설정하여 잘못된 접근 방지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3846187725"/>
                  </a:ext>
                </a:extLst>
              </a:tr>
              <a:tr h="271703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확장성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새로운 하드웨어 모듈 추가 시 기존 메모리 구조에 쉽게 통합 가능 </a:t>
                      </a:r>
                      <a:r>
                        <a:rPr lang="en-US" altLang="ko-KR" sz="1600">
                          <a:effectLst/>
                        </a:rPr>
                        <a:t>(</a:t>
                      </a:r>
                      <a:r>
                        <a:rPr lang="ko-KR" altLang="en-US" sz="1600">
                          <a:effectLst/>
                        </a:rPr>
                        <a:t>새로운 주소 공간만 추가</a:t>
                      </a:r>
                      <a:r>
                        <a:rPr lang="en-US" altLang="ko-KR" sz="1600">
                          <a:effectLst/>
                        </a:rPr>
                        <a:t>).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263428565"/>
                  </a:ext>
                </a:extLst>
              </a:tr>
              <a:tr h="373592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메모리 보호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권한 설정 및 주소 분리를 통해 소프트웨어가 불필요하거나 잘못된 영역에 접근하지 않도록 보호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313731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36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116DF-8FB6-9A30-8B0D-F58C1A65E6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602" y="571954"/>
            <a:ext cx="10515600" cy="620713"/>
          </a:xfrm>
        </p:spPr>
        <p:txBody>
          <a:bodyPr>
            <a:normAutofit/>
          </a:bodyPr>
          <a:lstStyle/>
          <a:p>
            <a:r>
              <a:rPr lang="en-CA" sz="3600" dirty="0"/>
              <a:t>Memory Management with Register Map</a:t>
            </a:r>
            <a:endParaRPr lang="en-CA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CC8642-77ED-75DE-33F9-24CEA41EABB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2798" y="1624373"/>
          <a:ext cx="10806404" cy="291547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181031">
                  <a:extLst>
                    <a:ext uri="{9D8B030D-6E8A-4147-A177-3AD203B41FA5}">
                      <a16:colId xmlns:a16="http://schemas.microsoft.com/office/drawing/2014/main" val="1119075278"/>
                    </a:ext>
                  </a:extLst>
                </a:gridCol>
                <a:gridCol w="8625373">
                  <a:extLst>
                    <a:ext uri="{9D8B030D-6E8A-4147-A177-3AD203B41FA5}">
                      <a16:colId xmlns:a16="http://schemas.microsoft.com/office/drawing/2014/main" val="3296171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0" dirty="0">
                          <a:effectLst/>
                        </a:rPr>
                        <a:t>항목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0" dirty="0">
                          <a:effectLst/>
                        </a:rPr>
                        <a:t>설명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1251590008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효율적인 자원 분배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각 하드웨어 모듈에 고유한 메모리 공간을 할당하여 충돌을 방지하고</a:t>
                      </a:r>
                      <a:r>
                        <a:rPr lang="en-US" altLang="ko-KR" sz="1600" dirty="0">
                          <a:effectLst/>
                        </a:rPr>
                        <a:t>, CPU</a:t>
                      </a:r>
                      <a:r>
                        <a:rPr lang="ko-KR" altLang="en-US" sz="1600" dirty="0">
                          <a:effectLst/>
                        </a:rPr>
                        <a:t>가 효율적으로 접근 가능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735505280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소프트웨어와 하드웨어 통합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소프트웨어가 특정 메모리 주소를 통해 하드웨어를 제어하거나 상태를 읽음으로써 간단한 통합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344086955"/>
                  </a:ext>
                </a:extLst>
              </a:tr>
              <a:tr h="26911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확장성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새로운 하드웨어 모듈 추가 시 기존 구조에 쉽게 통합 가능 </a:t>
                      </a:r>
                      <a:r>
                        <a:rPr lang="en-US" altLang="ko-KR" sz="1600">
                          <a:effectLst/>
                        </a:rPr>
                        <a:t>(</a:t>
                      </a:r>
                      <a:r>
                        <a:rPr lang="ko-KR" altLang="en-US" sz="1600">
                          <a:effectLst/>
                        </a:rPr>
                        <a:t>새로운 주소 공간만 추가</a:t>
                      </a:r>
                      <a:r>
                        <a:rPr lang="en-US" altLang="ko-KR" sz="1600">
                          <a:effectLst/>
                        </a:rPr>
                        <a:t>).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3853500111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읽기</a:t>
                      </a:r>
                      <a:r>
                        <a:rPr lang="en-US" altLang="ko-KR" sz="1800" b="0" dirty="0">
                          <a:effectLst/>
                        </a:rPr>
                        <a:t>/</a:t>
                      </a:r>
                      <a:r>
                        <a:rPr lang="ko-KR" altLang="en-US" sz="1800" b="0" dirty="0">
                          <a:effectLst/>
                        </a:rPr>
                        <a:t>쓰기 권한 설정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레지스터마다 읽기</a:t>
                      </a:r>
                      <a:r>
                        <a:rPr lang="en-US" altLang="ko-KR" sz="1600">
                          <a:effectLst/>
                        </a:rPr>
                        <a:t>(Read), 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(Write), </a:t>
                      </a:r>
                      <a:r>
                        <a:rPr lang="ko-KR" altLang="en-US" sz="1600">
                          <a:effectLst/>
                        </a:rPr>
                        <a:t>읽기</a:t>
                      </a:r>
                      <a:r>
                        <a:rPr lang="en-US" altLang="ko-KR" sz="1600">
                          <a:effectLst/>
                        </a:rPr>
                        <a:t>-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(Read-Write) </a:t>
                      </a:r>
                      <a:r>
                        <a:rPr lang="ko-KR" altLang="en-US" sz="1600">
                          <a:effectLst/>
                        </a:rPr>
                        <a:t>권한을 설정하여 메모리 보호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1388290990"/>
                  </a:ext>
                </a:extLst>
              </a:tr>
              <a:tr h="37003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디버깅 및 유지보수 용이성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명확히 정의된 레지스터 맵 덕분에 소프트웨어와 하드웨어 간의 인터페이스가 직관적이고 문제 해결이 용이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311910427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307C1B7-3FFB-41AA-8C2B-83286FA3E55E}"/>
              </a:ext>
            </a:extLst>
          </p:cNvPr>
          <p:cNvSpPr/>
          <p:nvPr/>
        </p:nvSpPr>
        <p:spPr>
          <a:xfrm>
            <a:off x="5468649" y="3244334"/>
            <a:ext cx="1254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LAB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30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D7A05-49C2-4292-8331-1A895B89C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121" y="929714"/>
            <a:ext cx="628650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7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Testbench</a:t>
            </a:r>
            <a:endParaRPr lang="en-CA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0DDA8-C8DA-484E-B6CE-ADCD83A9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2" y="1543050"/>
            <a:ext cx="5648325" cy="377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50F7F-0803-4844-B0B5-ABD180402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489" y="1543050"/>
            <a:ext cx="5429250" cy="477202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D2667BE-85DF-44B2-9EF6-7F8F337738D4}"/>
              </a:ext>
            </a:extLst>
          </p:cNvPr>
          <p:cNvSpPr/>
          <p:nvPr/>
        </p:nvSpPr>
        <p:spPr>
          <a:xfrm>
            <a:off x="6096000" y="986638"/>
            <a:ext cx="468086" cy="402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9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6FD91-9A16-4E1D-8B72-7B2E28767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552700"/>
            <a:ext cx="103441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3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Finite State Machine</a:t>
            </a:r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SoC </a:t>
            </a:r>
            <a:r>
              <a:rPr lang="ko-KR" altLang="en-US" sz="3200" dirty="0"/>
              <a:t>기본 </a:t>
            </a:r>
            <a:r>
              <a:rPr lang="ko-KR" altLang="en-US" sz="3200" dirty="0" err="1"/>
              <a:t>유한상태머신</a:t>
            </a:r>
            <a:r>
              <a:rPr lang="ko-KR" altLang="en-US" sz="3200" dirty="0"/>
              <a:t> 회로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AEBED-79A3-0673-483A-1E2DC7B3A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986118"/>
            <a:ext cx="10515600" cy="505637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/>
              <a:t>유한상태 머신</a:t>
            </a:r>
            <a:r>
              <a:rPr lang="en-US" altLang="ko-KR" sz="2400" dirty="0"/>
              <a:t>(Finite State Machine; FSM)</a:t>
            </a: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+mn-ea"/>
              </a:rPr>
              <a:t>정해진 수의 상태를 가지고 상태들 간의 천이에 의해 출력을 생성하는 회로</a:t>
            </a: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+mn-ea"/>
              </a:rPr>
              <a:t>디지털 시스템의 제어회로 구성에 사용</a:t>
            </a:r>
          </a:p>
          <a:p>
            <a:pPr lvl="1">
              <a:lnSpc>
                <a:spcPct val="130000"/>
              </a:lnSpc>
            </a:pP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Moore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머신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출력이 단지 현재상태에 의해서 결정</a:t>
            </a:r>
          </a:p>
          <a:p>
            <a:pPr lvl="1">
              <a:lnSpc>
                <a:spcPct val="130000"/>
              </a:lnSpc>
            </a:pPr>
            <a:r>
              <a:rPr lang="en-US" altLang="ko-KR" sz="1800" b="1" dirty="0">
                <a:solidFill>
                  <a:srgbClr val="7030A0"/>
                </a:solidFill>
                <a:latin typeface="+mn-ea"/>
              </a:rPr>
              <a:t>Mealy </a:t>
            </a:r>
            <a:r>
              <a:rPr lang="ko-KR" altLang="en-US" sz="1800" b="1" dirty="0">
                <a:solidFill>
                  <a:srgbClr val="7030A0"/>
                </a:solidFill>
                <a:latin typeface="+mn-ea"/>
              </a:rPr>
              <a:t>머신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현재상태와 입력에 의해 출력이 결정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6BBF43-22AA-12D0-ECAA-F9677E188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3843968"/>
            <a:ext cx="7002016" cy="249227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79A901-E198-5B3F-7E2D-B7DA001DA0E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278241" y="2547585"/>
          <a:ext cx="4794338" cy="344064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722884">
                  <a:extLst>
                    <a:ext uri="{9D8B030D-6E8A-4147-A177-3AD203B41FA5}">
                      <a16:colId xmlns:a16="http://schemas.microsoft.com/office/drawing/2014/main" val="469523427"/>
                    </a:ext>
                  </a:extLst>
                </a:gridCol>
                <a:gridCol w="3071454">
                  <a:extLst>
                    <a:ext uri="{9D8B030D-6E8A-4147-A177-3AD203B41FA5}">
                      <a16:colId xmlns:a16="http://schemas.microsoft.com/office/drawing/2014/main" val="2310108168"/>
                    </a:ext>
                  </a:extLst>
                </a:gridCol>
              </a:tblGrid>
              <a:tr h="338201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0">
                          <a:effectLst/>
                        </a:rPr>
                        <a:t>로직 종류</a:t>
                      </a:r>
                      <a:endParaRPr lang="ko-KR" altLang="en-US" sz="1600" b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0" dirty="0">
                          <a:effectLst/>
                        </a:rPr>
                        <a:t>역할 및 특징</a:t>
                      </a:r>
                      <a:endParaRPr lang="ko-KR" altLang="en-US" sz="16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/>
                </a:tc>
                <a:extLst>
                  <a:ext uri="{0D108BD9-81ED-4DB2-BD59-A6C34878D82A}">
                    <a16:rowId xmlns:a16="http://schemas.microsoft.com/office/drawing/2014/main" val="2997147287"/>
                  </a:ext>
                </a:extLst>
              </a:tr>
              <a:tr h="86712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en-CA" sz="1600" dirty="0">
                          <a:effectLst/>
                        </a:rPr>
                        <a:t>. State Sequential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클럭을 기준으로 현재 상태</a:t>
                      </a:r>
                      <a:r>
                        <a:rPr lang="en-US" altLang="ko-KR" sz="1600" dirty="0">
                          <a:effectLst/>
                        </a:rPr>
                        <a:t>(state)</a:t>
                      </a:r>
                      <a:r>
                        <a:rPr lang="ko-KR" altLang="en-US" sz="1600" dirty="0">
                          <a:effectLst/>
                        </a:rPr>
                        <a:t>를 저장하고 업데이트합니다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909297435"/>
                  </a:ext>
                </a:extLst>
              </a:tr>
              <a:tr h="86712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CA" sz="1600" dirty="0">
                          <a:effectLst/>
                        </a:rPr>
                        <a:t>. Next Combinational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입력과 현재 상태에 따라 다음 상태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en-US" altLang="ko-KR" sz="1600" dirty="0" err="1">
                          <a:effectLst/>
                        </a:rPr>
                        <a:t>next_state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effectLst/>
                        </a:rPr>
                        <a:t>를 결정합니다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502922753"/>
                  </a:ext>
                </a:extLst>
              </a:tr>
              <a:tr h="136819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r>
                        <a:rPr lang="en-CA" sz="1600" dirty="0">
                          <a:effectLst/>
                        </a:rPr>
                        <a:t>. Output Logic</a:t>
                      </a:r>
                      <a:endParaRPr lang="en-CA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Moore FSM</a:t>
                      </a:r>
                      <a:r>
                        <a:rPr lang="ko-KR" altLang="en-US" sz="1600" dirty="0">
                          <a:effectLst/>
                        </a:rPr>
                        <a:t>에서는 현재 상태만으로 출력을 결정하며</a:t>
                      </a:r>
                      <a:r>
                        <a:rPr lang="en-US" altLang="ko-KR" sz="1600" dirty="0">
                          <a:effectLst/>
                        </a:rPr>
                        <a:t>,</a:t>
                      </a:r>
                    </a:p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 Mealy FSM</a:t>
                      </a:r>
                      <a:r>
                        <a:rPr lang="ko-KR" altLang="en-US" sz="1600" dirty="0">
                          <a:effectLst/>
                        </a:rPr>
                        <a:t>에서는 입력과 현재 상태 모두를 고려하여 출력을 결정합니다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090544897"/>
                  </a:ext>
                </a:extLst>
              </a:tr>
            </a:tbl>
          </a:graphicData>
        </a:graphic>
      </p:graphicFrame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ACD827D-42F7-00DE-BBCA-FF95E8FBA37E}"/>
              </a:ext>
            </a:extLst>
          </p:cNvPr>
          <p:cNvSpPr/>
          <p:nvPr/>
        </p:nvSpPr>
        <p:spPr>
          <a:xfrm>
            <a:off x="2934582" y="4212540"/>
            <a:ext cx="487070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1</a:t>
            </a:r>
            <a:endParaRPr lang="en-CA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B49E7E0-617C-1BDD-59D5-3CDCFF6B922F}"/>
              </a:ext>
            </a:extLst>
          </p:cNvPr>
          <p:cNvSpPr/>
          <p:nvPr/>
        </p:nvSpPr>
        <p:spPr>
          <a:xfrm>
            <a:off x="1416119" y="4859769"/>
            <a:ext cx="487070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2</a:t>
            </a:r>
            <a:endParaRPr lang="en-CA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936E037-1E27-9E3E-2016-8AB5304494E3}"/>
              </a:ext>
            </a:extLst>
          </p:cNvPr>
          <p:cNvSpPr/>
          <p:nvPr/>
        </p:nvSpPr>
        <p:spPr>
          <a:xfrm>
            <a:off x="5189237" y="4114847"/>
            <a:ext cx="487070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59F90-3CCD-D225-E209-0443374A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SoC </a:t>
            </a:r>
            <a:r>
              <a:rPr lang="ko-KR" altLang="en-US" sz="3600" dirty="0"/>
              <a:t>기본 </a:t>
            </a:r>
            <a:r>
              <a:rPr lang="ko-KR" altLang="en-US" sz="3600" dirty="0" err="1"/>
              <a:t>유한상태머신</a:t>
            </a:r>
            <a:r>
              <a:rPr lang="ko-KR" altLang="en-US" sz="3600" dirty="0"/>
              <a:t> 회로</a:t>
            </a:r>
            <a:endParaRPr lang="en-CA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3D5E233-B22C-67FC-28C4-B22DD059EFA4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24125" y="4513964"/>
          <a:ext cx="7143750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42807">
                  <a:extLst>
                    <a:ext uri="{9D8B030D-6E8A-4147-A177-3AD203B41FA5}">
                      <a16:colId xmlns:a16="http://schemas.microsoft.com/office/drawing/2014/main" val="1225862278"/>
                    </a:ext>
                  </a:extLst>
                </a:gridCol>
                <a:gridCol w="2528047">
                  <a:extLst>
                    <a:ext uri="{9D8B030D-6E8A-4147-A177-3AD203B41FA5}">
                      <a16:colId xmlns:a16="http://schemas.microsoft.com/office/drawing/2014/main" val="1304573595"/>
                    </a:ext>
                  </a:extLst>
                </a:gridCol>
                <a:gridCol w="2772896">
                  <a:extLst>
                    <a:ext uri="{9D8B030D-6E8A-4147-A177-3AD203B41FA5}">
                      <a16:colId xmlns:a16="http://schemas.microsoft.com/office/drawing/2014/main" val="1549063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CA" b="0">
                          <a:effectLst/>
                        </a:rPr>
                        <a:t>Mealy </a:t>
                      </a:r>
                      <a:r>
                        <a:rPr lang="ko-KR" altLang="en-US" b="0">
                          <a:effectLst/>
                        </a:rPr>
                        <a:t>머신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CA" b="0">
                          <a:effectLst/>
                        </a:rPr>
                        <a:t>Moore </a:t>
                      </a:r>
                      <a:r>
                        <a:rPr lang="ko-KR" altLang="en-US" b="0">
                          <a:effectLst/>
                        </a:rPr>
                        <a:t>머신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출력 결정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현재 상태와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현재 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93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출력 반응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입력 변화에 즉각 반응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클럭 주기에 따라 반응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4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설계 복잡도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상대적으로 복잡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상대적으로 단순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562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상태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적음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dirty="0">
                          <a:effectLst/>
                        </a:rPr>
                        <a:t>많음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31237"/>
                  </a:ext>
                </a:extLst>
              </a:tr>
            </a:tbl>
          </a:graphicData>
        </a:graphic>
      </p:graphicFrame>
      <p:pic>
        <p:nvPicPr>
          <p:cNvPr id="14340" name="Picture 4" descr="Melay vs Moore machine difference">
            <a:extLst>
              <a:ext uri="{FF2B5EF4-FFF2-40B4-BE49-F238E27FC236}">
                <a16:creationId xmlns:a16="http://schemas.microsoft.com/office/drawing/2014/main" id="{86D645CF-D418-1789-73CF-607F785C4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986118"/>
            <a:ext cx="56007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583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2.1.  Moore Machine</a:t>
            </a:r>
          </a:p>
        </p:txBody>
      </p:sp>
    </p:spTree>
    <p:extLst>
      <p:ext uri="{BB962C8B-B14F-4D97-AF65-F5344CB8AC3E}">
        <p14:creationId xmlns:p14="http://schemas.microsoft.com/office/powerpoint/2010/main" val="420050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47B-04C2-2F03-E2AD-1E9851B074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1115" y="491203"/>
            <a:ext cx="10515600" cy="620713"/>
          </a:xfrm>
        </p:spPr>
        <p:txBody>
          <a:bodyPr/>
          <a:lstStyle/>
          <a:p>
            <a:r>
              <a:rPr lang="en-US" altLang="ko-KR" sz="3600" b="0" dirty="0"/>
              <a:t>Moore Machine</a:t>
            </a:r>
            <a:endParaRPr lang="en-CA" b="0" dirty="0"/>
          </a:p>
        </p:txBody>
      </p:sp>
      <p:pic>
        <p:nvPicPr>
          <p:cNvPr id="5" name="Picture 2" descr="논리회로 무어머신, 밀리머신 개념과 차이 (Moore, Mealy)">
            <a:extLst>
              <a:ext uri="{FF2B5EF4-FFF2-40B4-BE49-F238E27FC236}">
                <a16:creationId xmlns:a16="http://schemas.microsoft.com/office/drawing/2014/main" id="{C1FF6996-67F6-8F2C-11EB-1D783A8511D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29" y="3614964"/>
            <a:ext cx="4533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Melay vs Moore machine difference">
            <a:extLst>
              <a:ext uri="{FF2B5EF4-FFF2-40B4-BE49-F238E27FC236}">
                <a16:creationId xmlns:a16="http://schemas.microsoft.com/office/drawing/2014/main" id="{A05F1602-FA05-F28E-1696-B8127661A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70"/>
          <a:stretch/>
        </p:blipFill>
        <p:spPr bwMode="auto">
          <a:xfrm>
            <a:off x="3295650" y="1524000"/>
            <a:ext cx="5600700" cy="159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169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47B-04C2-2F03-E2AD-1E9851B074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1115" y="49120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b="0" dirty="0"/>
              <a:t>Encoding : state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D21BA5-4D96-483A-BFD9-32F4C9AE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" y="1536262"/>
            <a:ext cx="10671403" cy="453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28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40B9-1F2D-2E80-2DC0-99D7B993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8B299-11D1-AA79-7244-A4B1FD0543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4392"/>
            <a:ext cx="10515600" cy="620713"/>
          </a:xfrm>
        </p:spPr>
        <p:txBody>
          <a:bodyPr/>
          <a:lstStyle/>
          <a:p>
            <a:r>
              <a:rPr lang="en-US" sz="3200" b="0" dirty="0"/>
              <a:t>LAB : Specification &amp; SM Chart</a:t>
            </a:r>
            <a:endParaRPr lang="en-CA" sz="3200" b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3BD73-F250-4841-EAB1-B225105DFC1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5315" y="1228164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2400" dirty="0"/>
              <a:t>4</a:t>
            </a:r>
            <a:r>
              <a:rPr lang="ko-KR" altLang="en-US" sz="2400" dirty="0"/>
              <a:t>개의 상태를 갖는 </a:t>
            </a:r>
            <a:r>
              <a:rPr lang="en-US" altLang="ko-KR" sz="2400" dirty="0"/>
              <a:t>FSM </a:t>
            </a:r>
            <a:r>
              <a:rPr lang="ko-KR" altLang="en-US" sz="2400" dirty="0"/>
              <a:t>모델링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C555D9-D22A-A8A9-B571-BF835D68E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86" y="2012828"/>
            <a:ext cx="4652029" cy="361700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0D52F9B-9BC8-0148-A125-88F489413DB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0" y="2724052"/>
          <a:ext cx="5255468" cy="219456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313867">
                  <a:extLst>
                    <a:ext uri="{9D8B030D-6E8A-4147-A177-3AD203B41FA5}">
                      <a16:colId xmlns:a16="http://schemas.microsoft.com/office/drawing/2014/main" val="1960147863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391784892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551347860"/>
                    </a:ext>
                  </a:extLst>
                </a:gridCol>
                <a:gridCol w="1313867">
                  <a:extLst>
                    <a:ext uri="{9D8B030D-6E8A-4147-A177-3AD203B41FA5}">
                      <a16:colId xmlns:a16="http://schemas.microsoft.com/office/drawing/2014/main" val="3248643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현재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입력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다음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b="0">
                          <a:effectLst/>
                        </a:rPr>
                        <a:t>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492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go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75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go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537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 err="1">
                          <a:effectLst/>
                        </a:rPr>
                        <a:t>ws</a:t>
                      </a:r>
                      <a:r>
                        <a:rPr lang="en-CA" dirty="0">
                          <a:effectLst/>
                        </a:rPr>
                        <a:t>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rd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00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rd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IDLE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ds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297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60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5211" y="328379"/>
            <a:ext cx="10515600" cy="620712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148FC3-0BDC-44AD-ADB6-421D34CD2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11" y="1409700"/>
            <a:ext cx="5493203" cy="4250871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A759E-8FA5-49B5-A243-6C2DFD70F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09700"/>
            <a:ext cx="4887686" cy="4281775"/>
          </a:xfrm>
          <a:prstGeom prst="rect">
            <a:avLst/>
          </a:prstGeom>
        </p:spPr>
      </p:pic>
      <p:sp>
        <p:nvSpPr>
          <p:cNvPr id="6" name="화살표: 오른쪽 8">
            <a:extLst>
              <a:ext uri="{FF2B5EF4-FFF2-40B4-BE49-F238E27FC236}">
                <a16:creationId xmlns:a16="http://schemas.microsoft.com/office/drawing/2014/main" id="{5A27D7E3-946F-4100-8867-2992EA6CE5CE}"/>
              </a:ext>
            </a:extLst>
          </p:cNvPr>
          <p:cNvSpPr/>
          <p:nvPr/>
        </p:nvSpPr>
        <p:spPr>
          <a:xfrm>
            <a:off x="435429" y="3450771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1</a:t>
            </a:r>
          </a:p>
        </p:txBody>
      </p:sp>
      <p:sp>
        <p:nvSpPr>
          <p:cNvPr id="7" name="화살표: 오른쪽 7">
            <a:extLst>
              <a:ext uri="{FF2B5EF4-FFF2-40B4-BE49-F238E27FC236}">
                <a16:creationId xmlns:a16="http://schemas.microsoft.com/office/drawing/2014/main" id="{CEF28B12-6904-4892-8F1D-0EDD54D93D24}"/>
              </a:ext>
            </a:extLst>
          </p:cNvPr>
          <p:cNvSpPr/>
          <p:nvPr/>
        </p:nvSpPr>
        <p:spPr>
          <a:xfrm>
            <a:off x="435429" y="4832660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2</a:t>
            </a:r>
          </a:p>
        </p:txBody>
      </p:sp>
      <p:sp>
        <p:nvSpPr>
          <p:cNvPr id="8" name="화살표: 오른쪽 9">
            <a:extLst>
              <a:ext uri="{FF2B5EF4-FFF2-40B4-BE49-F238E27FC236}">
                <a16:creationId xmlns:a16="http://schemas.microsoft.com/office/drawing/2014/main" id="{305BC3EC-2CFE-42C2-B294-18DD42623436}"/>
              </a:ext>
            </a:extLst>
          </p:cNvPr>
          <p:cNvSpPr/>
          <p:nvPr/>
        </p:nvSpPr>
        <p:spPr>
          <a:xfrm>
            <a:off x="6229500" y="3320251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443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6057" y="143711"/>
            <a:ext cx="10515600" cy="620712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71FF9-D98C-4672-B639-76D1D93D0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622" y="929714"/>
            <a:ext cx="4814207" cy="5474219"/>
          </a:xfrm>
          <a:prstGeom prst="rect">
            <a:avLst/>
          </a:prstGeom>
        </p:spPr>
      </p:pic>
      <p:sp>
        <p:nvSpPr>
          <p:cNvPr id="7" name="화살표: 오른쪽 9">
            <a:extLst>
              <a:ext uri="{FF2B5EF4-FFF2-40B4-BE49-F238E27FC236}">
                <a16:creationId xmlns:a16="http://schemas.microsoft.com/office/drawing/2014/main" id="{BA78E07F-411B-45C0-A40B-DF12204A164E}"/>
              </a:ext>
            </a:extLst>
          </p:cNvPr>
          <p:cNvSpPr/>
          <p:nvPr/>
        </p:nvSpPr>
        <p:spPr>
          <a:xfrm>
            <a:off x="4215977" y="3429000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2629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Testbench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8478D1-EAB7-4712-8BF7-DA881F479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33" y="1466170"/>
            <a:ext cx="4827298" cy="4423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524A67-5307-4501-BF46-8FF25B8E9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571" y="750896"/>
            <a:ext cx="5071316" cy="5138709"/>
          </a:xfrm>
          <a:prstGeom prst="rect">
            <a:avLst/>
          </a:prstGeom>
        </p:spPr>
      </p:pic>
      <p:sp>
        <p:nvSpPr>
          <p:cNvPr id="10" name="화살표: 오른쪽 8">
            <a:extLst>
              <a:ext uri="{FF2B5EF4-FFF2-40B4-BE49-F238E27FC236}">
                <a16:creationId xmlns:a16="http://schemas.microsoft.com/office/drawing/2014/main" id="{08D523C9-2B58-45D9-8C7A-E5579242775A}"/>
              </a:ext>
            </a:extLst>
          </p:cNvPr>
          <p:cNvSpPr/>
          <p:nvPr/>
        </p:nvSpPr>
        <p:spPr>
          <a:xfrm>
            <a:off x="579341" y="2746898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1</a:t>
            </a:r>
          </a:p>
        </p:txBody>
      </p:sp>
      <p:sp>
        <p:nvSpPr>
          <p:cNvPr id="11" name="화살표: 오른쪽 7">
            <a:extLst>
              <a:ext uri="{FF2B5EF4-FFF2-40B4-BE49-F238E27FC236}">
                <a16:creationId xmlns:a16="http://schemas.microsoft.com/office/drawing/2014/main" id="{8BEEF1C2-D0EA-4F56-A351-86CE46E26293}"/>
              </a:ext>
            </a:extLst>
          </p:cNvPr>
          <p:cNvSpPr/>
          <p:nvPr/>
        </p:nvSpPr>
        <p:spPr>
          <a:xfrm>
            <a:off x="579341" y="4318035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2</a:t>
            </a:r>
          </a:p>
        </p:txBody>
      </p:sp>
      <p:sp>
        <p:nvSpPr>
          <p:cNvPr id="12" name="화살표: 오른쪽 9">
            <a:extLst>
              <a:ext uri="{FF2B5EF4-FFF2-40B4-BE49-F238E27FC236}">
                <a16:creationId xmlns:a16="http://schemas.microsoft.com/office/drawing/2014/main" id="{C8022C4A-61D1-4649-B196-346FD8CFA781}"/>
              </a:ext>
            </a:extLst>
          </p:cNvPr>
          <p:cNvSpPr/>
          <p:nvPr/>
        </p:nvSpPr>
        <p:spPr>
          <a:xfrm>
            <a:off x="579341" y="5658836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3</a:t>
            </a:r>
            <a:endParaRPr lang="en-CA" dirty="0"/>
          </a:p>
        </p:txBody>
      </p:sp>
      <p:sp>
        <p:nvSpPr>
          <p:cNvPr id="13" name="화살표: 오른쪽 9">
            <a:extLst>
              <a:ext uri="{FF2B5EF4-FFF2-40B4-BE49-F238E27FC236}">
                <a16:creationId xmlns:a16="http://schemas.microsoft.com/office/drawing/2014/main" id="{521BA139-A560-46E3-8AA5-5BB3F5A4E4BF}"/>
              </a:ext>
            </a:extLst>
          </p:cNvPr>
          <p:cNvSpPr/>
          <p:nvPr/>
        </p:nvSpPr>
        <p:spPr>
          <a:xfrm>
            <a:off x="5607571" y="3089914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0783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8C1A8-698D-499B-88E1-9CC6296B6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981200"/>
            <a:ext cx="100965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53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2.2.  Mealy Machine</a:t>
            </a:r>
          </a:p>
        </p:txBody>
      </p:sp>
    </p:spTree>
    <p:extLst>
      <p:ext uri="{BB962C8B-B14F-4D97-AF65-F5344CB8AC3E}">
        <p14:creationId xmlns:p14="http://schemas.microsoft.com/office/powerpoint/2010/main" val="4119726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98B81-CF41-3253-0163-87C356367AC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5315" y="484868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Mealy Machine</a:t>
            </a:r>
          </a:p>
        </p:txBody>
      </p:sp>
      <p:pic>
        <p:nvPicPr>
          <p:cNvPr id="4" name="Picture 4" descr="Melay vs Moore machine difference">
            <a:extLst>
              <a:ext uri="{FF2B5EF4-FFF2-40B4-BE49-F238E27FC236}">
                <a16:creationId xmlns:a16="http://schemas.microsoft.com/office/drawing/2014/main" id="{31BA31CD-8AFD-62FF-D293-D95BF5B779D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49"/>
          <a:stretch/>
        </p:blipFill>
        <p:spPr bwMode="auto">
          <a:xfrm>
            <a:off x="2964371" y="1564402"/>
            <a:ext cx="5600700" cy="1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B04926A2-6B0B-BD38-038B-BD68951A1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146" y="3965416"/>
            <a:ext cx="4352925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08511-26FD-47FE-B4AD-12D609DB86CD}"/>
              </a:ext>
            </a:extLst>
          </p:cNvPr>
          <p:cNvSpPr txBox="1"/>
          <p:nvPr/>
        </p:nvSpPr>
        <p:spPr>
          <a:xfrm>
            <a:off x="5873115" y="5251291"/>
            <a:ext cx="1030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입력</a:t>
            </a:r>
            <a:r>
              <a:rPr lang="en-US" altLang="ko-KR" sz="1400" b="1" i="0" dirty="0">
                <a:solidFill>
                  <a:srgbClr val="1F1F1F"/>
                </a:solidFill>
                <a:effectLst/>
                <a:latin typeface="AppleSDGothicNeo"/>
              </a:rPr>
              <a:t>/</a:t>
            </a:r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출력</a:t>
            </a:r>
            <a:endParaRPr lang="en-CA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8F290-9AFC-A15E-0946-547FA32DCC6E}"/>
              </a:ext>
            </a:extLst>
          </p:cNvPr>
          <p:cNvSpPr txBox="1"/>
          <p:nvPr/>
        </p:nvSpPr>
        <p:spPr>
          <a:xfrm>
            <a:off x="5076802" y="4049591"/>
            <a:ext cx="549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1F1F1F"/>
                </a:solidFill>
                <a:effectLst/>
                <a:latin typeface="AppleSDGothicNeo"/>
              </a:rPr>
              <a:t>상태</a:t>
            </a:r>
            <a:endParaRPr lang="en-CA" sz="1400" b="1" dirty="0"/>
          </a:p>
        </p:txBody>
      </p:sp>
    </p:spTree>
    <p:extLst>
      <p:ext uri="{BB962C8B-B14F-4D97-AF65-F5344CB8AC3E}">
        <p14:creationId xmlns:p14="http://schemas.microsoft.com/office/powerpoint/2010/main" val="2676468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8C6A8-1BA3-B948-44E7-03F8BFDB0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0467" y="35731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LAB: Specification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1E0A8-08D5-FDF5-F7FB-3EC552C204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132972"/>
            <a:ext cx="10515600" cy="5056188"/>
          </a:xfrm>
        </p:spPr>
        <p:txBody>
          <a:bodyPr/>
          <a:lstStyle/>
          <a:p>
            <a:r>
              <a:rPr lang="en-US" altLang="ko-KR" dirty="0"/>
              <a:t>Sequence Detector : detect consecutive 0 or 1 detector</a:t>
            </a:r>
            <a:endParaRPr lang="ko-KR" altLang="en-US" dirty="0"/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123A1-31C2-493A-98CC-E3FE2A554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0903"/>
            <a:ext cx="110299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61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8C6A8-1BA3-B948-44E7-03F8BFDB0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0467" y="357313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LAB: SM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73C9B-48CD-4286-8400-C796C551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661" y="1352681"/>
            <a:ext cx="4554310" cy="43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54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5211" y="328379"/>
            <a:ext cx="10515600" cy="620712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</a:t>
            </a:r>
            <a:endParaRPr lang="en-CA" sz="3200" dirty="0"/>
          </a:p>
        </p:txBody>
      </p:sp>
      <p:sp>
        <p:nvSpPr>
          <p:cNvPr id="11" name="화살표: 오른쪽 8">
            <a:extLst>
              <a:ext uri="{FF2B5EF4-FFF2-40B4-BE49-F238E27FC236}">
                <a16:creationId xmlns:a16="http://schemas.microsoft.com/office/drawing/2014/main" id="{73542DB5-05F1-48E4-9EA4-FE53DF7F190F}"/>
              </a:ext>
            </a:extLst>
          </p:cNvPr>
          <p:cNvSpPr/>
          <p:nvPr/>
        </p:nvSpPr>
        <p:spPr>
          <a:xfrm>
            <a:off x="536258" y="3987869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1</a:t>
            </a:r>
          </a:p>
        </p:txBody>
      </p:sp>
      <p:sp>
        <p:nvSpPr>
          <p:cNvPr id="12" name="화살표: 오른쪽 7">
            <a:extLst>
              <a:ext uri="{FF2B5EF4-FFF2-40B4-BE49-F238E27FC236}">
                <a16:creationId xmlns:a16="http://schemas.microsoft.com/office/drawing/2014/main" id="{E85ACA27-D23B-4DC4-AB46-BF37F0B7EEEE}"/>
              </a:ext>
            </a:extLst>
          </p:cNvPr>
          <p:cNvSpPr/>
          <p:nvPr/>
        </p:nvSpPr>
        <p:spPr>
          <a:xfrm>
            <a:off x="536258" y="5678978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2</a:t>
            </a:r>
          </a:p>
        </p:txBody>
      </p:sp>
      <p:sp>
        <p:nvSpPr>
          <p:cNvPr id="13" name="화살표: 오른쪽 9">
            <a:extLst>
              <a:ext uri="{FF2B5EF4-FFF2-40B4-BE49-F238E27FC236}">
                <a16:creationId xmlns:a16="http://schemas.microsoft.com/office/drawing/2014/main" id="{E4F59F66-FF30-4F13-AB3C-69438E795EF6}"/>
              </a:ext>
            </a:extLst>
          </p:cNvPr>
          <p:cNvSpPr/>
          <p:nvPr/>
        </p:nvSpPr>
        <p:spPr>
          <a:xfrm>
            <a:off x="5663738" y="1877930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3</a:t>
            </a:r>
            <a:endParaRPr lang="en-CA" dirty="0"/>
          </a:p>
        </p:txBody>
      </p:sp>
      <p:sp>
        <p:nvSpPr>
          <p:cNvPr id="14" name="화살표: 오른쪽 9">
            <a:extLst>
              <a:ext uri="{FF2B5EF4-FFF2-40B4-BE49-F238E27FC236}">
                <a16:creationId xmlns:a16="http://schemas.microsoft.com/office/drawing/2014/main" id="{ED82385D-9CCB-4292-B6E6-612F424DAB25}"/>
              </a:ext>
            </a:extLst>
          </p:cNvPr>
          <p:cNvSpPr/>
          <p:nvPr/>
        </p:nvSpPr>
        <p:spPr>
          <a:xfrm>
            <a:off x="5583011" y="5183427"/>
            <a:ext cx="508964" cy="46067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11308-F95E-483A-9E23-D358BCE8C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68" y="949091"/>
            <a:ext cx="3658750" cy="541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B5A25A-5E38-4364-A035-CDE0E6499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781" y="970969"/>
            <a:ext cx="5126601" cy="503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32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Testbench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8EDBA-6517-4040-90A0-79C2A6D9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5" y="1108982"/>
            <a:ext cx="4486275" cy="4857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9DC63A-25F1-448C-989E-BABF6E3C3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8907"/>
            <a:ext cx="47244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35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6C42A-8F13-4A8B-8171-E450FF8C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66" y="2129518"/>
            <a:ext cx="101631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00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11339</TotalTime>
  <Words>762</Words>
  <Application>Microsoft Office PowerPoint</Application>
  <PresentationFormat>Widescreen</PresentationFormat>
  <Paragraphs>204</Paragraphs>
  <Slides>28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AppleSDGothicNeo</vt:lpstr>
      <vt:lpstr>fkGroteskNeue</vt:lpstr>
      <vt:lpstr>맑은 고딕</vt:lpstr>
      <vt:lpstr>나눔스퀘어 네오 Regular</vt:lpstr>
      <vt:lpstr>Arial</vt:lpstr>
      <vt:lpstr>Office 테마</vt:lpstr>
      <vt:lpstr>SoC101 | 2026-1 </vt:lpstr>
      <vt:lpstr>PowerPoint Presentation</vt:lpstr>
      <vt:lpstr>PowerPoint Presentation</vt:lpstr>
      <vt:lpstr>Register Map</vt:lpstr>
      <vt:lpstr>Memory Map</vt:lpstr>
      <vt:lpstr>Memory Management with Register Map</vt:lpstr>
      <vt:lpstr>Memory Management with Register Map</vt:lpstr>
      <vt:lpstr>LAB : DUT</vt:lpstr>
      <vt:lpstr>LAB : Testbench</vt:lpstr>
      <vt:lpstr>LAB : Waveform</vt:lpstr>
      <vt:lpstr>PowerPoint Presentation</vt:lpstr>
      <vt:lpstr>SoC 기본 유한상태머신 회로</vt:lpstr>
      <vt:lpstr>SoC 기본 유한상태머신 회로</vt:lpstr>
      <vt:lpstr>PowerPoint Presentation</vt:lpstr>
      <vt:lpstr>Moore Machine</vt:lpstr>
      <vt:lpstr>Encoding : state value</vt:lpstr>
      <vt:lpstr>LAB : Specification &amp; SM Chart</vt:lpstr>
      <vt:lpstr>LAB : DUT</vt:lpstr>
      <vt:lpstr>LAB : DUT</vt:lpstr>
      <vt:lpstr>LAB : Testbench</vt:lpstr>
      <vt:lpstr>LAB : Waveform</vt:lpstr>
      <vt:lpstr>PowerPoint Presentation</vt:lpstr>
      <vt:lpstr>Mealy Machine</vt:lpstr>
      <vt:lpstr>LAB: Specification</vt:lpstr>
      <vt:lpstr>LAB: SM Chart</vt:lpstr>
      <vt:lpstr>LAB : DUT</vt:lpstr>
      <vt:lpstr>LAB : Testbench</vt:lpstr>
      <vt:lpstr>LAB : Waveform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625</cp:revision>
  <dcterms:created xsi:type="dcterms:W3CDTF">2024-09-20T05:42:48Z</dcterms:created>
  <dcterms:modified xsi:type="dcterms:W3CDTF">2026-05-19T13:37:45Z</dcterms:modified>
</cp:coreProperties>
</file>