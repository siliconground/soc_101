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70" r:id="rId2"/>
    <p:sldId id="658" r:id="rId3"/>
    <p:sldId id="659" r:id="rId4"/>
    <p:sldId id="667" r:id="rId5"/>
    <p:sldId id="683" r:id="rId6"/>
    <p:sldId id="682" r:id="rId7"/>
    <p:sldId id="699" r:id="rId8"/>
    <p:sldId id="709" r:id="rId9"/>
    <p:sldId id="710" r:id="rId10"/>
    <p:sldId id="711" r:id="rId11"/>
    <p:sldId id="707" r:id="rId12"/>
    <p:sldId id="708" r:id="rId13"/>
    <p:sldId id="712" r:id="rId14"/>
    <p:sldId id="669" r:id="rId15"/>
    <p:sldId id="670" r:id="rId16"/>
    <p:sldId id="671" r:id="rId17"/>
    <p:sldId id="673" r:id="rId18"/>
    <p:sldId id="675" r:id="rId19"/>
    <p:sldId id="676" r:id="rId20"/>
    <p:sldId id="678" r:id="rId21"/>
    <p:sldId id="679" r:id="rId22"/>
    <p:sldId id="713" r:id="rId23"/>
    <p:sldId id="714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658"/>
            <p14:sldId id="659"/>
            <p14:sldId id="667"/>
            <p14:sldId id="683"/>
            <p14:sldId id="682"/>
            <p14:sldId id="699"/>
            <p14:sldId id="709"/>
            <p14:sldId id="710"/>
            <p14:sldId id="711"/>
            <p14:sldId id="707"/>
            <p14:sldId id="708"/>
            <p14:sldId id="712"/>
            <p14:sldId id="669"/>
            <p14:sldId id="670"/>
            <p14:sldId id="671"/>
            <p14:sldId id="673"/>
            <p14:sldId id="675"/>
            <p14:sldId id="676"/>
            <p14:sldId id="678"/>
            <p14:sldId id="679"/>
            <p14:sldId id="713"/>
            <p14:sldId id="7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9"/>
    <a:srgbClr val="1DCAD3"/>
    <a:srgbClr val="147ED1"/>
    <a:srgbClr val="147BD1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79056" autoAdjust="0"/>
  </p:normalViewPr>
  <p:slideViewPr>
    <p:cSldViewPr snapToGrid="0" showGuides="1">
      <p:cViewPr varScale="1">
        <p:scale>
          <a:sx n="114" d="100"/>
          <a:sy n="114" d="100"/>
        </p:scale>
        <p:origin x="132" y="312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23" d="100"/>
          <a:sy n="123" d="100"/>
        </p:scale>
        <p:origin x="24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9349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6456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6522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95343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9116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439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1195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8694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10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28386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12558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33114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00846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5425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4165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07560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61543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45274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2098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5.gi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BC1CFEA-8870-7DAA-E9D9-0153330F92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09" y="196937"/>
            <a:ext cx="1185562" cy="224451"/>
          </a:xfrm>
          <a:prstGeom prst="rect">
            <a:avLst/>
          </a:prstGeom>
        </p:spPr>
      </p:pic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068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601D2-EC58-C9D9-66C5-E3C75078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ko-KR" altLang="en-US" dirty="0"/>
              <a:t>마스터 제목 스타일 편집</a:t>
            </a:r>
            <a:endParaRPr lang="en-CA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5F62F2-10CB-21B8-E968-6E1F717F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05637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CA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975F2A-690B-8E35-55A5-09EC8C98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FD73-F43C-4CEC-A4BC-4F63297EBA95}" type="datetimeFigureOut">
              <a:rPr lang="en-CA" smtClean="0"/>
              <a:t>2026-05-25</a:t>
            </a:fld>
            <a:endParaRPr lang="en-CA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0777A-56DA-4165-A342-6D195714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3C9D3-AB74-5CC7-9BFB-48CE3DFE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3B5-75D4-45EF-8263-FECEAD7B51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9227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2026-05-25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4" r:id="rId13"/>
    <p:sldLayoutId id="2147483675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7689344" cy="442446"/>
          </a:xfrm>
        </p:spPr>
        <p:txBody>
          <a:bodyPr/>
          <a:lstStyle/>
          <a:p>
            <a:r>
              <a:rPr lang="en-US" altLang="ko-KR" sz="2400">
                <a:latin typeface="Arial" panose="020B0604020202020204" pitchFamily="34" charset="0"/>
                <a:cs typeface="Arial" panose="020B0604020202020204" pitchFamily="34" charset="0"/>
              </a:rPr>
              <a:t>SoC101 </a:t>
            </a:r>
            <a:r>
              <a:rPr lang="en-US" altLang="ko-KR" sz="2400" dirty="0">
                <a:latin typeface="Arial" panose="020B0604020202020204" pitchFamily="34" charset="0"/>
                <a:cs typeface="Arial" panose="020B0604020202020204" pitchFamily="34" charset="0"/>
              </a:rPr>
              <a:t>| 2026-1</a:t>
            </a:r>
            <a:br>
              <a:rPr lang="en-US" altLang="ko-KR" dirty="0">
                <a:latin typeface="+mj-lt"/>
              </a:rPr>
            </a:br>
            <a:endParaRPr lang="ko-KR" altLang="en-US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155" y="5159080"/>
            <a:ext cx="7689344" cy="438950"/>
          </a:xfrm>
        </p:spPr>
        <p:txBody>
          <a:bodyPr/>
          <a:lstStyle/>
          <a:p>
            <a:r>
              <a:rPr lang="en-US" altLang="ko-KR" dirty="0"/>
              <a:t>Session8 : Clock and Reset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D66995-EC8F-4241-838D-FB8A84AF17A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73363-4663-4A83-B5B9-7302893C9A0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E3330-E42F-45C6-9FDA-74753CBBADAF}"/>
              </a:ext>
            </a:extLst>
          </p:cNvPr>
          <p:cNvSpPr txBox="1"/>
          <p:nvPr/>
        </p:nvSpPr>
        <p:spPr>
          <a:xfrm>
            <a:off x="570451" y="1325461"/>
            <a:ext cx="8296712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Clock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Reset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LABS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15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1. Clock and Reset</a:t>
            </a:r>
          </a:p>
        </p:txBody>
      </p:sp>
    </p:spTree>
    <p:extLst>
      <p:ext uri="{BB962C8B-B14F-4D97-AF65-F5344CB8AC3E}">
        <p14:creationId xmlns:p14="http://schemas.microsoft.com/office/powerpoint/2010/main" val="3788496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4491E-7D98-A5A2-F889-3F2C1DE2C4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1729" y="242867"/>
            <a:ext cx="10515600" cy="620713"/>
          </a:xfrm>
        </p:spPr>
        <p:txBody>
          <a:bodyPr/>
          <a:lstStyle/>
          <a:p>
            <a:r>
              <a:rPr lang="en-US" altLang="ko-KR" sz="2800" dirty="0"/>
              <a:t>System Clock</a:t>
            </a:r>
            <a:endParaRPr lang="en-CA" sz="2800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78972A-7825-512D-AAA9-747B86E5288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985838"/>
            <a:ext cx="10515600" cy="5191125"/>
          </a:xfrm>
        </p:spPr>
        <p:txBody>
          <a:bodyPr>
            <a:normAutofit/>
          </a:bodyPr>
          <a:lstStyle/>
          <a:p>
            <a:pPr lvl="1"/>
            <a:r>
              <a:rPr lang="ko-KR" altLang="en-US" sz="2000" b="0" i="0" dirty="0">
                <a:effectLst/>
                <a:latin typeface="+mn-ea"/>
              </a:rPr>
              <a:t>디지털 전자 시스템에서 </a:t>
            </a:r>
            <a:r>
              <a:rPr lang="ko-KR" altLang="en-US" sz="2000" b="0" i="0" dirty="0" err="1">
                <a:effectLst/>
                <a:latin typeface="+mn-ea"/>
              </a:rPr>
              <a:t>클록은</a:t>
            </a:r>
            <a:r>
              <a:rPr lang="ko-KR" altLang="en-US" sz="2000" b="0" i="0" dirty="0">
                <a:effectLst/>
                <a:latin typeface="+mn-ea"/>
              </a:rPr>
              <a:t> 시스템의 상태 업데이트를 위한 기준 신호</a:t>
            </a:r>
            <a:r>
              <a:rPr lang="en-CA" altLang="ko-KR" sz="2000" dirty="0">
                <a:latin typeface="+mn-ea"/>
              </a:rPr>
              <a:t>, </a:t>
            </a:r>
            <a:r>
              <a:rPr lang="ko-KR" altLang="en-US" sz="2000" b="0" i="0" dirty="0">
                <a:effectLst/>
                <a:latin typeface="fkGroteskNeue"/>
              </a:rPr>
              <a:t>일종의 </a:t>
            </a:r>
            <a:r>
              <a:rPr lang="en-US" altLang="ko-KR" sz="2000" b="0" i="0" dirty="0">
                <a:effectLst/>
                <a:latin typeface="fkGroteskNeue"/>
              </a:rPr>
              <a:t>"</a:t>
            </a:r>
            <a:r>
              <a:rPr lang="ko-KR" altLang="en-US" sz="2000" b="0" i="0" dirty="0">
                <a:effectLst/>
                <a:latin typeface="fkGroteskNeue"/>
              </a:rPr>
              <a:t>심장 박동</a:t>
            </a:r>
            <a:r>
              <a:rPr lang="en-US" altLang="ko-KR" sz="2000" b="0" i="0" dirty="0">
                <a:effectLst/>
                <a:latin typeface="fkGroteskNeue"/>
              </a:rPr>
              <a:t>" </a:t>
            </a:r>
            <a:r>
              <a:rPr lang="ko-KR" altLang="en-US" sz="2000" b="0" i="0" dirty="0">
                <a:effectLst/>
                <a:latin typeface="fkGroteskNeue"/>
              </a:rPr>
              <a:t>역할</a:t>
            </a:r>
            <a:endParaRPr lang="en-US" altLang="ko-KR" sz="2000" b="0" i="0" dirty="0">
              <a:effectLst/>
              <a:latin typeface="fkGroteskNeue"/>
            </a:endParaRPr>
          </a:p>
          <a:p>
            <a:pPr lvl="1"/>
            <a:endParaRPr lang="en-CA" altLang="ko-KR" sz="2000" b="0" i="0" dirty="0">
              <a:effectLst/>
              <a:latin typeface="fkGroteskNeue"/>
            </a:endParaRPr>
          </a:p>
          <a:p>
            <a:pPr lvl="1"/>
            <a:r>
              <a:rPr lang="ko-KR" altLang="en-US" sz="2000" b="0" i="0" dirty="0" err="1">
                <a:effectLst/>
                <a:latin typeface="fkGroteskNeue"/>
              </a:rPr>
              <a:t>클록</a:t>
            </a:r>
            <a:r>
              <a:rPr lang="ko-KR" altLang="en-US" sz="2000" b="0" i="0" dirty="0">
                <a:effectLst/>
                <a:latin typeface="fkGroteskNeue"/>
              </a:rPr>
              <a:t> 신호는 일반적으로 </a:t>
            </a:r>
            <a:r>
              <a:rPr lang="ko-KR" altLang="en-US" sz="2000" b="0" i="0" dirty="0" err="1">
                <a:effectLst/>
                <a:latin typeface="fkGroteskNeue"/>
              </a:rPr>
              <a:t>오실레이터</a:t>
            </a:r>
            <a:r>
              <a:rPr lang="en-US" altLang="ko-KR" sz="2000" b="0" i="0" dirty="0">
                <a:effectLst/>
                <a:latin typeface="fkGroteskNeue"/>
              </a:rPr>
              <a:t>(</a:t>
            </a:r>
            <a:r>
              <a:rPr lang="ko-KR" altLang="en-US" sz="2000" b="0" i="0" dirty="0">
                <a:effectLst/>
                <a:latin typeface="fkGroteskNeue"/>
              </a:rPr>
              <a:t>예</a:t>
            </a:r>
            <a:r>
              <a:rPr lang="en-US" altLang="ko-KR" sz="2000" b="0" i="0" dirty="0">
                <a:effectLst/>
                <a:latin typeface="fkGroteskNeue"/>
              </a:rPr>
              <a:t>: </a:t>
            </a:r>
            <a:r>
              <a:rPr lang="ko-KR" altLang="en-US" sz="2000" b="0" i="0" dirty="0">
                <a:effectLst/>
                <a:latin typeface="fkGroteskNeue"/>
              </a:rPr>
              <a:t>수정 </a:t>
            </a:r>
            <a:r>
              <a:rPr lang="ko-KR" altLang="en-US" sz="2000" b="0" i="0" dirty="0" err="1">
                <a:effectLst/>
                <a:latin typeface="fkGroteskNeue"/>
              </a:rPr>
              <a:t>발진기</a:t>
            </a:r>
            <a:r>
              <a:rPr lang="en-US" altLang="ko-KR" sz="2000" b="0" i="0" dirty="0">
                <a:effectLst/>
                <a:latin typeface="fkGroteskNeue"/>
              </a:rPr>
              <a:t>)</a:t>
            </a:r>
            <a:r>
              <a:rPr lang="ko-KR" altLang="en-US" sz="2000" b="0" i="0" dirty="0">
                <a:effectLst/>
                <a:latin typeface="fkGroteskNeue"/>
              </a:rPr>
              <a:t>에 의해 생성되며</a:t>
            </a:r>
            <a:r>
              <a:rPr lang="en-US" altLang="ko-KR" sz="2000" b="0" i="0" dirty="0">
                <a:effectLst/>
                <a:latin typeface="fkGroteskNeue"/>
              </a:rPr>
              <a:t>, </a:t>
            </a:r>
            <a:r>
              <a:rPr lang="ko-KR" altLang="en-US" sz="2000" b="0" i="0" dirty="0">
                <a:effectLst/>
                <a:latin typeface="fkGroteskNeue"/>
              </a:rPr>
              <a:t>주기적으로 높은 상태와 낮은 상태 간을 빠르게 전환하여 메모리와 로직이 동시에 업데이트</a:t>
            </a:r>
            <a:r>
              <a:rPr lang="en-US" altLang="ko-KR" sz="2000" b="0" i="0" dirty="0">
                <a:effectLst/>
                <a:latin typeface="fkGroteskNeue"/>
              </a:rPr>
              <a:t>. </a:t>
            </a:r>
            <a:r>
              <a:rPr lang="ko-KR" altLang="en-US" sz="2000" b="0" i="0" dirty="0">
                <a:effectLst/>
                <a:latin typeface="fkGroteskNeue"/>
              </a:rPr>
              <a:t>이를 통해 경합 조건</a:t>
            </a:r>
            <a:r>
              <a:rPr lang="en-US" altLang="ko-KR" sz="2000" b="0" i="0" dirty="0">
                <a:effectLst/>
                <a:latin typeface="fkGroteskNeue"/>
              </a:rPr>
              <a:t>(race condition)</a:t>
            </a:r>
            <a:r>
              <a:rPr lang="ko-KR" altLang="en-US" sz="2000" b="0" i="0" dirty="0">
                <a:effectLst/>
                <a:latin typeface="fkGroteskNeue"/>
              </a:rPr>
              <a:t>을 방지하고 안정적인 회로 동작을 보장</a:t>
            </a:r>
            <a:r>
              <a:rPr lang="en-US" altLang="ko-KR" sz="2000" b="0" i="0" dirty="0">
                <a:effectLst/>
                <a:latin typeface="fkGroteskNeue"/>
              </a:rPr>
              <a:t>.</a:t>
            </a:r>
            <a:endParaRPr lang="en-CA" altLang="ko-KR" sz="2000" dirty="0"/>
          </a:p>
        </p:txBody>
      </p:sp>
      <p:pic>
        <p:nvPicPr>
          <p:cNvPr id="2050" name="Picture 2" descr="Circuit assembly with crystal oscillator at the center of the image.">
            <a:extLst>
              <a:ext uri="{FF2B5EF4-FFF2-40B4-BE49-F238E27FC236}">
                <a16:creationId xmlns:a16="http://schemas.microsoft.com/office/drawing/2014/main" id="{4607559F-616F-21B6-82B3-B15CD94701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34" t="31443" r="20157" b="13666"/>
          <a:stretch/>
        </p:blipFill>
        <p:spPr bwMode="auto">
          <a:xfrm>
            <a:off x="3549196" y="4071763"/>
            <a:ext cx="3417207" cy="1979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1552DEA-1A51-84B3-C388-4FF106B2CB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331" y="2985511"/>
            <a:ext cx="8560877" cy="78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57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37B2A-B29C-29F4-7078-975C0196B66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76837" y="272846"/>
            <a:ext cx="10515600" cy="62071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System Clock</a:t>
            </a:r>
            <a:endParaRPr lang="en-CA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5B1BC3B-9976-4808-47E6-2E91DBECA0B1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720643637"/>
              </p:ext>
            </p:extLst>
          </p:nvPr>
        </p:nvGraphicFramePr>
        <p:xfrm>
          <a:off x="595619" y="1274938"/>
          <a:ext cx="10596938" cy="4477162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2367338">
                  <a:extLst>
                    <a:ext uri="{9D8B030D-6E8A-4147-A177-3AD203B41FA5}">
                      <a16:colId xmlns:a16="http://schemas.microsoft.com/office/drawing/2014/main" val="1571281302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370439891"/>
                    </a:ext>
                  </a:extLst>
                </a:gridCol>
              </a:tblGrid>
              <a:tr h="108427"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sz="2400" b="0" dirty="0"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28728" marR="28728" marT="14364" marB="14364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sz="2400" b="0" dirty="0"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28728" marR="28728" marT="14364" marB="14364"/>
                </a:tc>
                <a:extLst>
                  <a:ext uri="{0D108BD9-81ED-4DB2-BD59-A6C34878D82A}">
                    <a16:rowId xmlns:a16="http://schemas.microsoft.com/office/drawing/2014/main" val="2827720872"/>
                  </a:ext>
                </a:extLst>
              </a:tr>
              <a:tr h="725799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2000" b="0">
                          <a:effectLst/>
                          <a:latin typeface="+mn-ea"/>
                          <a:ea typeface="+mn-ea"/>
                        </a:rPr>
                        <a:t>클록 신호의 역할</a:t>
                      </a:r>
                      <a:endParaRPr lang="ko-KR" altLang="en-US" sz="2000">
                        <a:effectLst/>
                        <a:latin typeface="+mn-ea"/>
                        <a:ea typeface="+mn-ea"/>
                      </a:endParaRPr>
                    </a:p>
                  </a:txBody>
                  <a:tcPr marL="28728" marR="28728" marT="14364" marB="1436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디지털 시스템에서 모든 구성 요소</a:t>
                      </a:r>
                      <a:r>
                        <a:rPr lang="en-US" altLang="ko-KR" sz="2000" dirty="0">
                          <a:effectLst/>
                          <a:latin typeface="+mn-ea"/>
                          <a:ea typeface="+mn-ea"/>
                        </a:rPr>
                        <a:t>(CPU, 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메모리 등</a:t>
                      </a:r>
                      <a:r>
                        <a:rPr lang="en-US" altLang="ko-KR" sz="20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의 동작을 동기화하며 데이터 전송과 명령 실행의 기준 신호 제공</a:t>
                      </a:r>
                      <a:r>
                        <a:rPr lang="en-US" altLang="ko-KR" sz="20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28728" marR="28728" marT="14364" marB="14364" anchor="ctr"/>
                </a:tc>
                <a:extLst>
                  <a:ext uri="{0D108BD9-81ED-4DB2-BD59-A6C34878D82A}">
                    <a16:rowId xmlns:a16="http://schemas.microsoft.com/office/drawing/2014/main" val="808502871"/>
                  </a:ext>
                </a:extLst>
              </a:tr>
              <a:tr h="803563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2000" b="0" dirty="0" err="1">
                          <a:effectLst/>
                          <a:latin typeface="+mn-ea"/>
                          <a:ea typeface="+mn-ea"/>
                        </a:rPr>
                        <a:t>클록</a:t>
                      </a:r>
                      <a:r>
                        <a:rPr lang="ko-KR" altLang="en-US" sz="2000" b="0" dirty="0">
                          <a:effectLst/>
                          <a:latin typeface="+mn-ea"/>
                          <a:ea typeface="+mn-ea"/>
                        </a:rPr>
                        <a:t> 트리 설계</a:t>
                      </a:r>
                      <a:r>
                        <a:rPr lang="en-US" altLang="ko-KR" sz="2000" b="0" dirty="0">
                          <a:effectLst/>
                          <a:latin typeface="+mn-ea"/>
                          <a:ea typeface="+mn-ea"/>
                        </a:rPr>
                        <a:t>(CTS)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8728" marR="28728" marT="14364" marB="1436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2000" dirty="0" err="1">
                          <a:effectLst/>
                          <a:latin typeface="+mn-ea"/>
                          <a:ea typeface="+mn-ea"/>
                        </a:rPr>
                        <a:t>클록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 신호를 칩 내부의 모든 </a:t>
                      </a:r>
                      <a:r>
                        <a:rPr lang="ko-KR" altLang="en-US" sz="2000" dirty="0" err="1">
                          <a:effectLst/>
                          <a:latin typeface="+mn-ea"/>
                          <a:ea typeface="+mn-ea"/>
                        </a:rPr>
                        <a:t>플립플롭과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 레지스터에 균일하게 분배하도록 트리 구조를 설계</a:t>
                      </a:r>
                      <a:r>
                        <a:rPr lang="en-US" altLang="ko-KR" sz="2000" dirty="0"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지연 최소화와 신호 무결성 유지가 핵심</a:t>
                      </a:r>
                      <a:r>
                        <a:rPr lang="en-US" altLang="ko-KR" sz="20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28728" marR="28728" marT="14364" marB="14364" anchor="ctr"/>
                </a:tc>
                <a:extLst>
                  <a:ext uri="{0D108BD9-81ED-4DB2-BD59-A6C34878D82A}">
                    <a16:rowId xmlns:a16="http://schemas.microsoft.com/office/drawing/2014/main" val="2387023732"/>
                  </a:ext>
                </a:extLst>
              </a:tr>
              <a:tr h="492506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2000" b="0" dirty="0" err="1">
                          <a:effectLst/>
                          <a:latin typeface="+mn-ea"/>
                          <a:ea typeface="+mn-ea"/>
                        </a:rPr>
                        <a:t>클록</a:t>
                      </a:r>
                      <a:r>
                        <a:rPr lang="ko-KR" altLang="en-US" sz="2000" b="0" dirty="0">
                          <a:effectLst/>
                          <a:latin typeface="+mn-ea"/>
                          <a:ea typeface="+mn-ea"/>
                        </a:rPr>
                        <a:t> 관리 유닛</a:t>
                      </a:r>
                      <a:r>
                        <a:rPr lang="en-US" altLang="ko-KR" sz="2000" b="0" dirty="0">
                          <a:effectLst/>
                          <a:latin typeface="+mn-ea"/>
                          <a:ea typeface="+mn-ea"/>
                        </a:rPr>
                        <a:t>(CMU)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8728" marR="28728" marT="14364" marB="1436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2000" dirty="0">
                          <a:effectLst/>
                          <a:latin typeface="+mn-ea"/>
                          <a:ea typeface="+mn-ea"/>
                        </a:rPr>
                        <a:t>SoC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에서 </a:t>
                      </a:r>
                      <a:r>
                        <a:rPr lang="ko-KR" altLang="en-US" sz="2000" dirty="0" err="1">
                          <a:effectLst/>
                          <a:latin typeface="+mn-ea"/>
                          <a:ea typeface="+mn-ea"/>
                        </a:rPr>
                        <a:t>클록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 소스와 각 모듈 간 </a:t>
                      </a:r>
                      <a:r>
                        <a:rPr lang="ko-KR" altLang="en-US" sz="2000" dirty="0" err="1">
                          <a:effectLst/>
                          <a:latin typeface="+mn-ea"/>
                          <a:ea typeface="+mn-ea"/>
                        </a:rPr>
                        <a:t>클록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 신호를 제어하며</a:t>
                      </a:r>
                      <a:r>
                        <a:rPr lang="en-US" altLang="ko-KR" sz="2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fontAlgn="base" latinLnBrk="0"/>
                      <a:r>
                        <a:rPr lang="ko-KR" altLang="en-US" sz="2000" dirty="0" err="1">
                          <a:effectLst/>
                          <a:latin typeface="+mn-ea"/>
                          <a:ea typeface="+mn-ea"/>
                        </a:rPr>
                        <a:t>클록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 온</a:t>
                      </a:r>
                      <a:r>
                        <a:rPr lang="en-US" altLang="ko-KR" sz="20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오프 및 주파수 조정을 담당</a:t>
                      </a:r>
                      <a:r>
                        <a:rPr lang="en-US" altLang="ko-KR" sz="20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28728" marR="28728" marT="14364" marB="14364" anchor="ctr"/>
                </a:tc>
                <a:extLst>
                  <a:ext uri="{0D108BD9-81ED-4DB2-BD59-A6C34878D82A}">
                    <a16:rowId xmlns:a16="http://schemas.microsoft.com/office/drawing/2014/main" val="1925723046"/>
                  </a:ext>
                </a:extLst>
              </a:tr>
              <a:tr h="570270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2000" b="0" dirty="0" err="1">
                          <a:effectLst/>
                          <a:latin typeface="+mn-ea"/>
                          <a:ea typeface="+mn-ea"/>
                        </a:rPr>
                        <a:t>지터</a:t>
                      </a:r>
                      <a:r>
                        <a:rPr lang="en-US" altLang="ko-KR" sz="2000" b="0" dirty="0">
                          <a:effectLst/>
                          <a:latin typeface="+mn-ea"/>
                          <a:ea typeface="+mn-ea"/>
                        </a:rPr>
                        <a:t>(Jitter)</a:t>
                      </a:r>
                      <a:r>
                        <a:rPr lang="ko-KR" altLang="en-US" sz="2000" b="0" dirty="0">
                          <a:effectLst/>
                          <a:latin typeface="+mn-ea"/>
                          <a:ea typeface="+mn-ea"/>
                        </a:rPr>
                        <a:t> 관리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8728" marR="28728" marT="14364" marB="1436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2000" dirty="0" err="1">
                          <a:effectLst/>
                          <a:latin typeface="+mn-ea"/>
                          <a:ea typeface="+mn-ea"/>
                        </a:rPr>
                        <a:t>클록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 신호의 시간적 변동을 최소화하여 정확한 타이밍 제공</a:t>
                      </a:r>
                      <a:r>
                        <a:rPr lang="en-US" altLang="ko-KR" sz="2000" dirty="0">
                          <a:effectLst/>
                          <a:latin typeface="+mn-ea"/>
                          <a:ea typeface="+mn-ea"/>
                        </a:rPr>
                        <a:t>. PLL(Phase Locked Loop)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과 같은 기술 활용</a:t>
                      </a:r>
                      <a:r>
                        <a:rPr lang="en-US" altLang="ko-KR" sz="20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28728" marR="28728" marT="14364" marB="14364" anchor="ctr"/>
                </a:tc>
                <a:extLst>
                  <a:ext uri="{0D108BD9-81ED-4DB2-BD59-A6C34878D82A}">
                    <a16:rowId xmlns:a16="http://schemas.microsoft.com/office/drawing/2014/main" val="3434683283"/>
                  </a:ext>
                </a:extLst>
              </a:tr>
              <a:tr h="570270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2000" b="0" dirty="0">
                          <a:effectLst/>
                          <a:latin typeface="+mn-ea"/>
                          <a:ea typeface="+mn-ea"/>
                        </a:rPr>
                        <a:t>저전력</a:t>
                      </a:r>
                      <a:r>
                        <a:rPr lang="en-US" altLang="ko-KR" sz="2000" b="0" dirty="0">
                          <a:effectLst/>
                          <a:latin typeface="+mn-ea"/>
                          <a:ea typeface="+mn-ea"/>
                        </a:rPr>
                        <a:t>(Low Power)</a:t>
                      </a:r>
                      <a:r>
                        <a:rPr lang="ko-KR" altLang="en-US" sz="2000" b="0" dirty="0">
                          <a:effectLst/>
                          <a:latin typeface="+mn-ea"/>
                          <a:ea typeface="+mn-ea"/>
                        </a:rPr>
                        <a:t> 설계</a:t>
                      </a:r>
                      <a:endParaRPr lang="ko-KR" altLang="en-US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8728" marR="28728" marT="14364" marB="1436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필요하지 않은 블록에 </a:t>
                      </a:r>
                      <a:r>
                        <a:rPr lang="ko-KR" altLang="en-US" sz="2000" dirty="0" err="1">
                          <a:effectLst/>
                          <a:latin typeface="+mn-ea"/>
                          <a:ea typeface="+mn-ea"/>
                        </a:rPr>
                        <a:t>클록을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 차단</a:t>
                      </a:r>
                      <a:r>
                        <a:rPr lang="en-US" altLang="ko-KR" sz="2000" dirty="0">
                          <a:effectLst/>
                          <a:latin typeface="+mn-ea"/>
                          <a:ea typeface="+mn-ea"/>
                        </a:rPr>
                        <a:t>(Clock Gating)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하여 전력 소비를 줄이고 시스템 효율성을 높임</a:t>
                      </a:r>
                      <a:r>
                        <a:rPr lang="en-US" altLang="ko-KR" sz="2000" b="0" u="none" strike="noStrike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endParaRPr lang="en-US" altLang="ko-KR" sz="20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8728" marR="28728" marT="14364" marB="14364" anchor="ctr"/>
                </a:tc>
                <a:extLst>
                  <a:ext uri="{0D108BD9-81ED-4DB2-BD59-A6C34878D82A}">
                    <a16:rowId xmlns:a16="http://schemas.microsoft.com/office/drawing/2014/main" val="3086720420"/>
                  </a:ext>
                </a:extLst>
              </a:tr>
              <a:tr h="492506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2000" b="0">
                          <a:effectLst/>
                          <a:latin typeface="+mn-ea"/>
                          <a:ea typeface="+mn-ea"/>
                        </a:rPr>
                        <a:t>자동화된 설계 도구</a:t>
                      </a:r>
                      <a:endParaRPr lang="ko-KR" altLang="en-US" sz="2000">
                        <a:effectLst/>
                        <a:latin typeface="+mn-ea"/>
                        <a:ea typeface="+mn-ea"/>
                      </a:endParaRPr>
                    </a:p>
                  </a:txBody>
                  <a:tcPr marL="28728" marR="28728" marT="14364" marB="14364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복잡한 </a:t>
                      </a:r>
                      <a:r>
                        <a:rPr lang="en-US" altLang="ko-KR" sz="2000" dirty="0">
                          <a:effectLst/>
                          <a:latin typeface="+mn-ea"/>
                          <a:ea typeface="+mn-ea"/>
                        </a:rPr>
                        <a:t>SoC 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설계를 위해 </a:t>
                      </a:r>
                      <a:r>
                        <a:rPr lang="ko-KR" altLang="en-US" sz="2000" dirty="0" err="1">
                          <a:effectLst/>
                          <a:latin typeface="+mn-ea"/>
                          <a:ea typeface="+mn-ea"/>
                        </a:rPr>
                        <a:t>클록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 트리 생성</a:t>
                      </a:r>
                      <a:r>
                        <a:rPr lang="en-US" altLang="ko-KR" sz="2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검증</a:t>
                      </a:r>
                      <a:r>
                        <a:rPr lang="en-US" altLang="ko-KR" sz="20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최적화를 자동화하는 </a:t>
                      </a:r>
                      <a:r>
                        <a:rPr lang="en-US" altLang="ko-KR" sz="2000" dirty="0">
                          <a:effectLst/>
                          <a:latin typeface="+mn-ea"/>
                          <a:ea typeface="+mn-ea"/>
                        </a:rPr>
                        <a:t>EDA </a:t>
                      </a:r>
                      <a:r>
                        <a:rPr lang="ko-KR" altLang="en-US" sz="2000" dirty="0">
                          <a:effectLst/>
                          <a:latin typeface="+mn-ea"/>
                          <a:ea typeface="+mn-ea"/>
                        </a:rPr>
                        <a:t>도구 활용</a:t>
                      </a:r>
                      <a:r>
                        <a:rPr lang="en-US" altLang="ko-KR" sz="20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28728" marR="28728" marT="14364" marB="14364" anchor="ctr"/>
                </a:tc>
                <a:extLst>
                  <a:ext uri="{0D108BD9-81ED-4DB2-BD59-A6C34878D82A}">
                    <a16:rowId xmlns:a16="http://schemas.microsoft.com/office/drawing/2014/main" val="475581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2614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F0B30F-4AC6-6659-D732-4EE5296525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311" y="190092"/>
            <a:ext cx="10515600" cy="620713"/>
          </a:xfrm>
        </p:spPr>
        <p:txBody>
          <a:bodyPr>
            <a:normAutofit/>
          </a:bodyPr>
          <a:lstStyle/>
          <a:p>
            <a:r>
              <a:rPr lang="en-CA" altLang="ko-KR" sz="3600" dirty="0"/>
              <a:t>Clock</a:t>
            </a:r>
            <a:r>
              <a:rPr lang="ko-KR" altLang="en-US" sz="3600" dirty="0"/>
              <a:t> </a:t>
            </a:r>
            <a:r>
              <a:rPr lang="ko-KR" altLang="en-US" sz="3600" dirty="0" err="1"/>
              <a:t>설계시</a:t>
            </a:r>
            <a:r>
              <a:rPr lang="ko-KR" altLang="en-US" sz="3600" dirty="0"/>
              <a:t> 주의 사항</a:t>
            </a:r>
            <a:endParaRPr lang="en-CA" sz="3600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8D1545DC-3E11-E778-AA8C-926EAE002F10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277396078"/>
              </p:ext>
            </p:extLst>
          </p:nvPr>
        </p:nvGraphicFramePr>
        <p:xfrm>
          <a:off x="243280" y="873810"/>
          <a:ext cx="11242222" cy="5636134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2001721">
                  <a:extLst>
                    <a:ext uri="{9D8B030D-6E8A-4147-A177-3AD203B41FA5}">
                      <a16:colId xmlns:a16="http://schemas.microsoft.com/office/drawing/2014/main" val="3600297953"/>
                    </a:ext>
                  </a:extLst>
                </a:gridCol>
                <a:gridCol w="5044058">
                  <a:extLst>
                    <a:ext uri="{9D8B030D-6E8A-4147-A177-3AD203B41FA5}">
                      <a16:colId xmlns:a16="http://schemas.microsoft.com/office/drawing/2014/main" val="457140193"/>
                    </a:ext>
                  </a:extLst>
                </a:gridCol>
                <a:gridCol w="4196443">
                  <a:extLst>
                    <a:ext uri="{9D8B030D-6E8A-4147-A177-3AD203B41FA5}">
                      <a16:colId xmlns:a16="http://schemas.microsoft.com/office/drawing/2014/main" val="1358136724"/>
                    </a:ext>
                  </a:extLst>
                </a:gridCol>
              </a:tblGrid>
              <a:tr h="365956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400" b="1" dirty="0">
                          <a:effectLst/>
                        </a:rPr>
                        <a:t>항목</a:t>
                      </a:r>
                    </a:p>
                  </a:txBody>
                  <a:tcPr marL="20144" marR="20144" marT="10072" marB="10072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400" b="1" dirty="0">
                          <a:effectLst/>
                        </a:rPr>
                        <a:t>설명</a:t>
                      </a:r>
                    </a:p>
                  </a:txBody>
                  <a:tcPr marL="20144" marR="20144" marT="10072" marB="10072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400" b="1" dirty="0">
                          <a:effectLst/>
                        </a:rPr>
                        <a:t>고려사항</a:t>
                      </a:r>
                    </a:p>
                  </a:txBody>
                  <a:tcPr marL="20144" marR="20144" marT="10072" marB="10072"/>
                </a:tc>
                <a:extLst>
                  <a:ext uri="{0D108BD9-81ED-4DB2-BD59-A6C34878D82A}">
                    <a16:rowId xmlns:a16="http://schemas.microsoft.com/office/drawing/2014/main" val="1883207403"/>
                  </a:ext>
                </a:extLst>
              </a:tr>
              <a:tr h="545666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 dirty="0" err="1">
                          <a:effectLst/>
                        </a:rPr>
                        <a:t>클록</a:t>
                      </a:r>
                      <a:r>
                        <a:rPr lang="ko-KR" altLang="en-US" sz="1600" b="0" dirty="0">
                          <a:effectLst/>
                        </a:rPr>
                        <a:t> 소스 선택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dirty="0" err="1">
                          <a:effectLst/>
                        </a:rPr>
                        <a:t>클록</a:t>
                      </a:r>
                      <a:r>
                        <a:rPr lang="ko-KR" altLang="en-US" sz="1600" dirty="0">
                          <a:effectLst/>
                        </a:rPr>
                        <a:t> 신호를 생성하기 위해 사용되는 소스 </a:t>
                      </a:r>
                      <a:endParaRPr lang="en-CA" altLang="ko-KR" sz="1600" dirty="0">
                        <a:effectLst/>
                      </a:endParaRPr>
                    </a:p>
                    <a:p>
                      <a:pPr algn="ctr" fontAlgn="base" latinLnBrk="0"/>
                      <a:r>
                        <a:rPr lang="ko-KR" altLang="en-US" sz="1600" dirty="0">
                          <a:effectLst/>
                        </a:rPr>
                        <a:t> </a:t>
                      </a:r>
                      <a:r>
                        <a:rPr lang="en-US" altLang="ko-KR" sz="1600" dirty="0">
                          <a:effectLst/>
                        </a:rPr>
                        <a:t>(XTAL, PLL, RC </a:t>
                      </a:r>
                      <a:r>
                        <a:rPr lang="ko-KR" altLang="en-US" sz="1600" dirty="0" err="1">
                          <a:effectLst/>
                        </a:rPr>
                        <a:t>오실레이터</a:t>
                      </a:r>
                      <a:r>
                        <a:rPr lang="ko-KR" altLang="en-US" sz="1600" dirty="0">
                          <a:effectLst/>
                        </a:rPr>
                        <a:t> 등</a:t>
                      </a:r>
                      <a:r>
                        <a:rPr lang="en-US" altLang="ko-KR" sz="1600" dirty="0">
                          <a:effectLst/>
                        </a:rPr>
                        <a:t>)</a:t>
                      </a: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>
                          <a:effectLst/>
                        </a:rPr>
                        <a:t>주파수 정확도</a:t>
                      </a:r>
                      <a:r>
                        <a:rPr lang="en-US" altLang="ko-KR" sz="1600">
                          <a:effectLst/>
                        </a:rPr>
                        <a:t>, </a:t>
                      </a:r>
                      <a:r>
                        <a:rPr lang="ko-KR" altLang="en-US" sz="1600">
                          <a:effectLst/>
                        </a:rPr>
                        <a:t>전력 소비</a:t>
                      </a:r>
                      <a:r>
                        <a:rPr lang="en-US" altLang="ko-KR" sz="1600">
                          <a:effectLst/>
                        </a:rPr>
                        <a:t>, </a:t>
                      </a:r>
                      <a:r>
                        <a:rPr lang="ko-KR" altLang="en-US" sz="1600">
                          <a:effectLst/>
                        </a:rPr>
                        <a:t>비용</a:t>
                      </a:r>
                      <a:r>
                        <a:rPr lang="en-US" altLang="ko-KR" sz="1600">
                          <a:effectLst/>
                        </a:rPr>
                        <a:t>, </a:t>
                      </a:r>
                      <a:r>
                        <a:rPr lang="ko-KR" altLang="en-US" sz="1600">
                          <a:effectLst/>
                        </a:rPr>
                        <a:t>안정성</a:t>
                      </a:r>
                    </a:p>
                  </a:txBody>
                  <a:tcPr marL="20144" marR="20144" marT="10072" marB="10072" anchor="ctr"/>
                </a:tc>
                <a:extLst>
                  <a:ext uri="{0D108BD9-81ED-4DB2-BD59-A6C34878D82A}">
                    <a16:rowId xmlns:a16="http://schemas.microsoft.com/office/drawing/2014/main" val="2207311406"/>
                  </a:ext>
                </a:extLst>
              </a:tr>
              <a:tr h="491284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 dirty="0" err="1">
                          <a:effectLst/>
                        </a:rPr>
                        <a:t>클록</a:t>
                      </a:r>
                      <a:r>
                        <a:rPr lang="ko-KR" altLang="en-US" sz="1600" b="0" dirty="0">
                          <a:effectLst/>
                        </a:rPr>
                        <a:t> 트리 설계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dirty="0" err="1">
                          <a:effectLst/>
                        </a:rPr>
                        <a:t>클록</a:t>
                      </a:r>
                      <a:r>
                        <a:rPr lang="ko-KR" altLang="en-US" sz="1600" dirty="0">
                          <a:effectLst/>
                        </a:rPr>
                        <a:t> 신호를 </a:t>
                      </a:r>
                      <a:r>
                        <a:rPr lang="en-US" altLang="ko-KR" sz="1600" dirty="0">
                          <a:effectLst/>
                        </a:rPr>
                        <a:t>SoC </a:t>
                      </a:r>
                      <a:r>
                        <a:rPr lang="ko-KR" altLang="en-US" sz="1600" dirty="0">
                          <a:effectLst/>
                        </a:rPr>
                        <a:t>내부의 다양한 블록으로 분배하는 구조</a:t>
                      </a: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>
                          <a:effectLst/>
                        </a:rPr>
                        <a:t>균일한 시간 지연</a:t>
                      </a:r>
                      <a:r>
                        <a:rPr lang="en-US" altLang="ko-KR" sz="1600">
                          <a:effectLst/>
                        </a:rPr>
                        <a:t>, </a:t>
                      </a:r>
                      <a:r>
                        <a:rPr lang="ko-KR" altLang="en-US" sz="1600">
                          <a:effectLst/>
                        </a:rPr>
                        <a:t>낮은 지터</a:t>
                      </a:r>
                      <a:r>
                        <a:rPr lang="en-US" altLang="ko-KR" sz="1600">
                          <a:effectLst/>
                        </a:rPr>
                        <a:t>(Jitter), </a:t>
                      </a:r>
                      <a:r>
                        <a:rPr lang="ko-KR" altLang="en-US" sz="1600">
                          <a:effectLst/>
                        </a:rPr>
                        <a:t>신호 무결성 유지</a:t>
                      </a:r>
                    </a:p>
                  </a:txBody>
                  <a:tcPr marL="20144" marR="20144" marT="10072" marB="10072" anchor="ctr"/>
                </a:tc>
                <a:extLst>
                  <a:ext uri="{0D108BD9-81ED-4DB2-BD59-A6C34878D82A}">
                    <a16:rowId xmlns:a16="http://schemas.microsoft.com/office/drawing/2014/main" val="4105172380"/>
                  </a:ext>
                </a:extLst>
              </a:tr>
              <a:tr h="491284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>
                          <a:effectLst/>
                        </a:rPr>
                        <a:t>클록 도메인 분리</a:t>
                      </a:r>
                      <a:endParaRPr lang="ko-KR" altLang="en-US" sz="1600">
                        <a:effectLst/>
                      </a:endParaRP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dirty="0">
                          <a:effectLst/>
                        </a:rPr>
                        <a:t>서로 다른 주파수로 동작하는 </a:t>
                      </a:r>
                      <a:r>
                        <a:rPr lang="ko-KR" altLang="en-US" sz="1600" dirty="0" err="1">
                          <a:effectLst/>
                        </a:rPr>
                        <a:t>클록</a:t>
                      </a:r>
                      <a:r>
                        <a:rPr lang="ko-KR" altLang="en-US" sz="1600" dirty="0">
                          <a:effectLst/>
                        </a:rPr>
                        <a:t> 도메인을 분리하여 설계</a:t>
                      </a: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dirty="0">
                          <a:effectLst/>
                        </a:rPr>
                        <a:t>교차 </a:t>
                      </a:r>
                      <a:r>
                        <a:rPr lang="ko-KR" altLang="en-US" sz="1600" dirty="0" err="1">
                          <a:effectLst/>
                        </a:rPr>
                        <a:t>클록</a:t>
                      </a:r>
                      <a:r>
                        <a:rPr lang="ko-KR" altLang="en-US" sz="1600" dirty="0">
                          <a:effectLst/>
                        </a:rPr>
                        <a:t> 도메인</a:t>
                      </a:r>
                      <a:r>
                        <a:rPr lang="en-US" altLang="ko-KR" sz="1600" dirty="0">
                          <a:effectLst/>
                        </a:rPr>
                        <a:t>(CCD) </a:t>
                      </a:r>
                      <a:r>
                        <a:rPr lang="ko-KR" altLang="en-US" sz="1600" dirty="0">
                          <a:effectLst/>
                        </a:rPr>
                        <a:t>문제 해결</a:t>
                      </a:r>
                      <a:r>
                        <a:rPr lang="en-US" altLang="ko-KR" sz="1600" dirty="0"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effectLst/>
                        </a:rPr>
                        <a:t>동기화 회로 삽입</a:t>
                      </a:r>
                    </a:p>
                  </a:txBody>
                  <a:tcPr marL="20144" marR="20144" marT="10072" marB="10072" anchor="ctr"/>
                </a:tc>
                <a:extLst>
                  <a:ext uri="{0D108BD9-81ED-4DB2-BD59-A6C34878D82A}">
                    <a16:rowId xmlns:a16="http://schemas.microsoft.com/office/drawing/2014/main" val="1586873282"/>
                  </a:ext>
                </a:extLst>
              </a:tr>
              <a:tr h="491284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CA" sz="1600" b="0">
                          <a:effectLst/>
                        </a:rPr>
                        <a:t>PLL(Phase Locked Loop)</a:t>
                      </a:r>
                      <a:endParaRPr lang="en-CA" sz="1600">
                        <a:effectLst/>
                      </a:endParaRP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dirty="0">
                          <a:effectLst/>
                        </a:rPr>
                        <a:t>다양한 주파수의 </a:t>
                      </a:r>
                      <a:r>
                        <a:rPr lang="ko-KR" altLang="en-US" sz="1600" dirty="0" err="1">
                          <a:effectLst/>
                        </a:rPr>
                        <a:t>고정밀</a:t>
                      </a:r>
                      <a:r>
                        <a:rPr lang="ko-KR" altLang="en-US" sz="1600" dirty="0">
                          <a:effectLst/>
                        </a:rPr>
                        <a:t> </a:t>
                      </a:r>
                      <a:r>
                        <a:rPr lang="ko-KR" altLang="en-US" sz="1600" dirty="0" err="1">
                          <a:effectLst/>
                        </a:rPr>
                        <a:t>클록을</a:t>
                      </a:r>
                      <a:r>
                        <a:rPr lang="ko-KR" altLang="en-US" sz="1600" dirty="0">
                          <a:effectLst/>
                        </a:rPr>
                        <a:t> 생성하기 위한 회로</a:t>
                      </a: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dirty="0">
                          <a:effectLst/>
                        </a:rPr>
                        <a:t>주파수 변환 범위</a:t>
                      </a:r>
                      <a:r>
                        <a:rPr lang="en-US" altLang="ko-KR" sz="1600" dirty="0"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effectLst/>
                        </a:rPr>
                        <a:t>안정성</a:t>
                      </a:r>
                      <a:r>
                        <a:rPr lang="en-US" altLang="ko-KR" sz="1600" dirty="0">
                          <a:effectLst/>
                        </a:rPr>
                        <a:t>, </a:t>
                      </a:r>
                      <a:r>
                        <a:rPr lang="ko-KR" altLang="en-US" sz="1600" dirty="0" err="1">
                          <a:effectLst/>
                        </a:rPr>
                        <a:t>지터</a:t>
                      </a:r>
                      <a:r>
                        <a:rPr lang="ko-KR" altLang="en-US" sz="1600" dirty="0">
                          <a:effectLst/>
                        </a:rPr>
                        <a:t> 최소화</a:t>
                      </a:r>
                    </a:p>
                  </a:txBody>
                  <a:tcPr marL="20144" marR="20144" marT="10072" marB="10072" anchor="ctr"/>
                </a:tc>
                <a:extLst>
                  <a:ext uri="{0D108BD9-81ED-4DB2-BD59-A6C34878D82A}">
                    <a16:rowId xmlns:a16="http://schemas.microsoft.com/office/drawing/2014/main" val="423492485"/>
                  </a:ext>
                </a:extLst>
              </a:tr>
              <a:tr h="545666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>
                          <a:effectLst/>
                        </a:rPr>
                        <a:t>저전력 모드 지원</a:t>
                      </a:r>
                      <a:endParaRPr lang="ko-KR" altLang="en-US" sz="1600">
                        <a:effectLst/>
                      </a:endParaRP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dirty="0">
                          <a:effectLst/>
                        </a:rPr>
                        <a:t>저전력 상태에서 </a:t>
                      </a:r>
                      <a:r>
                        <a:rPr lang="ko-KR" altLang="en-US" sz="1600" dirty="0" err="1">
                          <a:effectLst/>
                        </a:rPr>
                        <a:t>클록</a:t>
                      </a:r>
                      <a:r>
                        <a:rPr lang="ko-KR" altLang="en-US" sz="1600" dirty="0">
                          <a:effectLst/>
                        </a:rPr>
                        <a:t> 속도를 낮추거나 비활성화하여 전력 소비를 줄임</a:t>
                      </a: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dirty="0">
                          <a:effectLst/>
                        </a:rPr>
                        <a:t>전환 속도</a:t>
                      </a:r>
                      <a:r>
                        <a:rPr lang="en-US" altLang="ko-KR" sz="1600" dirty="0"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effectLst/>
                        </a:rPr>
                        <a:t>복구 시간</a:t>
                      </a:r>
                    </a:p>
                  </a:txBody>
                  <a:tcPr marL="20144" marR="20144" marT="10072" marB="10072" anchor="ctr"/>
                </a:tc>
                <a:extLst>
                  <a:ext uri="{0D108BD9-81ED-4DB2-BD59-A6C34878D82A}">
                    <a16:rowId xmlns:a16="http://schemas.microsoft.com/office/drawing/2014/main" val="3665616995"/>
                  </a:ext>
                </a:extLst>
              </a:tr>
              <a:tr h="604130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>
                          <a:effectLst/>
                        </a:rPr>
                        <a:t>자동화된 클록 생성</a:t>
                      </a:r>
                      <a:endParaRPr lang="ko-KR" altLang="en-US" sz="1600">
                        <a:effectLst/>
                      </a:endParaRP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dirty="0">
                          <a:effectLst/>
                        </a:rPr>
                        <a:t>복잡한 </a:t>
                      </a:r>
                      <a:r>
                        <a:rPr lang="en-US" altLang="ko-KR" sz="1600" dirty="0">
                          <a:effectLst/>
                        </a:rPr>
                        <a:t>SoC </a:t>
                      </a:r>
                      <a:r>
                        <a:rPr lang="ko-KR" altLang="en-US" sz="1600" dirty="0">
                          <a:effectLst/>
                        </a:rPr>
                        <a:t>설계를 위해 자동화된 알고리즘을 통해 </a:t>
                      </a:r>
                      <a:r>
                        <a:rPr lang="ko-KR" altLang="en-US" sz="1600" dirty="0" err="1">
                          <a:effectLst/>
                        </a:rPr>
                        <a:t>클록</a:t>
                      </a:r>
                      <a:r>
                        <a:rPr lang="ko-KR" altLang="en-US" sz="1600" dirty="0">
                          <a:effectLst/>
                        </a:rPr>
                        <a:t> 구조를 생성</a:t>
                      </a: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ko-KR" sz="1600" dirty="0">
                          <a:effectLst/>
                        </a:rPr>
                        <a:t>RTL </a:t>
                      </a:r>
                      <a:r>
                        <a:rPr lang="ko-KR" altLang="en-US" sz="1600" dirty="0">
                          <a:effectLst/>
                        </a:rPr>
                        <a:t>코드 생성</a:t>
                      </a:r>
                      <a:r>
                        <a:rPr lang="en-US" altLang="ko-KR" sz="1600" dirty="0"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effectLst/>
                        </a:rPr>
                        <a:t>검증용 </a:t>
                      </a:r>
                      <a:r>
                        <a:rPr lang="ko-KR" altLang="en-US" sz="1600" dirty="0" err="1">
                          <a:effectLst/>
                        </a:rPr>
                        <a:t>어설션</a:t>
                      </a:r>
                      <a:r>
                        <a:rPr lang="en-US" altLang="ko-KR" sz="1600" dirty="0">
                          <a:effectLst/>
                        </a:rPr>
                        <a:t>(assertion), </a:t>
                      </a:r>
                      <a:r>
                        <a:rPr lang="ko-KR" altLang="en-US" sz="1600" dirty="0">
                          <a:effectLst/>
                        </a:rPr>
                        <a:t>제약 조건 관리</a:t>
                      </a:r>
                    </a:p>
                  </a:txBody>
                  <a:tcPr marL="20144" marR="20144" marT="10072" marB="10072" anchor="ctr"/>
                </a:tc>
                <a:extLst>
                  <a:ext uri="{0D108BD9-81ED-4DB2-BD59-A6C34878D82A}">
                    <a16:rowId xmlns:a16="http://schemas.microsoft.com/office/drawing/2014/main" val="3504744337"/>
                  </a:ext>
                </a:extLst>
              </a:tr>
              <a:tr h="491284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>
                          <a:effectLst/>
                        </a:rPr>
                        <a:t>신호 무결성 유지</a:t>
                      </a:r>
                      <a:endParaRPr lang="ko-KR" altLang="en-US" sz="1600">
                        <a:effectLst/>
                      </a:endParaRP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>
                          <a:effectLst/>
                        </a:rPr>
                        <a:t>클록 신호의 품질을 유지하여 시스템의 안정적인 동작 보장</a:t>
                      </a: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ko-KR" sz="1600" dirty="0">
                          <a:effectLst/>
                        </a:rPr>
                        <a:t>EMI(</a:t>
                      </a:r>
                      <a:r>
                        <a:rPr lang="ko-KR" altLang="en-US" sz="1600" dirty="0">
                          <a:effectLst/>
                        </a:rPr>
                        <a:t>전자기 간섭</a:t>
                      </a:r>
                      <a:r>
                        <a:rPr lang="en-US" altLang="ko-KR" sz="1600" dirty="0">
                          <a:effectLst/>
                        </a:rPr>
                        <a:t>) </a:t>
                      </a:r>
                      <a:r>
                        <a:rPr lang="ko-KR" altLang="en-US" sz="1600" dirty="0">
                          <a:effectLst/>
                        </a:rPr>
                        <a:t>최소화</a:t>
                      </a:r>
                      <a:r>
                        <a:rPr lang="en-US" altLang="ko-KR" sz="1600" dirty="0">
                          <a:effectLst/>
                        </a:rPr>
                        <a:t>, PCB </a:t>
                      </a:r>
                      <a:r>
                        <a:rPr lang="ko-KR" altLang="en-US" sz="1600" dirty="0">
                          <a:effectLst/>
                        </a:rPr>
                        <a:t>레이아웃 최적화</a:t>
                      </a:r>
                    </a:p>
                  </a:txBody>
                  <a:tcPr marL="20144" marR="20144" marT="10072" marB="10072" anchor="ctr"/>
                </a:tc>
                <a:extLst>
                  <a:ext uri="{0D108BD9-81ED-4DB2-BD59-A6C34878D82A}">
                    <a16:rowId xmlns:a16="http://schemas.microsoft.com/office/drawing/2014/main" val="556492067"/>
                  </a:ext>
                </a:extLst>
              </a:tr>
              <a:tr h="491284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 dirty="0" err="1">
                          <a:effectLst/>
                        </a:rPr>
                        <a:t>지터</a:t>
                      </a:r>
                      <a:r>
                        <a:rPr lang="en-US" altLang="ko-KR" sz="1600" b="0" dirty="0">
                          <a:effectLst/>
                        </a:rPr>
                        <a:t>(</a:t>
                      </a:r>
                      <a:r>
                        <a:rPr lang="en-CA" sz="1600" b="0" dirty="0">
                          <a:effectLst/>
                        </a:rPr>
                        <a:t>Jitter) </a:t>
                      </a:r>
                      <a:r>
                        <a:rPr lang="ko-KR" altLang="en-US" sz="1600" b="0" dirty="0">
                          <a:effectLst/>
                        </a:rPr>
                        <a:t>관리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>
                          <a:effectLst/>
                        </a:rPr>
                        <a:t>클록 신호의 시간적 변동을 최소화하여 정확한 타이밍 제공</a:t>
                      </a: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US" altLang="ko-KR" sz="1600" dirty="0">
                          <a:effectLst/>
                        </a:rPr>
                        <a:t>PLL </a:t>
                      </a:r>
                      <a:r>
                        <a:rPr lang="ko-KR" altLang="en-US" sz="1600" dirty="0">
                          <a:effectLst/>
                        </a:rPr>
                        <a:t>설계 최적화</a:t>
                      </a:r>
                      <a:r>
                        <a:rPr lang="en-US" altLang="ko-KR" sz="1600" dirty="0"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effectLst/>
                        </a:rPr>
                        <a:t>고품질 </a:t>
                      </a:r>
                      <a:r>
                        <a:rPr lang="ko-KR" altLang="en-US" sz="1600" dirty="0" err="1">
                          <a:effectLst/>
                        </a:rPr>
                        <a:t>오실레이터</a:t>
                      </a:r>
                      <a:r>
                        <a:rPr lang="ko-KR" altLang="en-US" sz="1600" dirty="0">
                          <a:effectLst/>
                        </a:rPr>
                        <a:t> 사용</a:t>
                      </a:r>
                    </a:p>
                  </a:txBody>
                  <a:tcPr marL="20144" marR="20144" marT="10072" marB="10072" anchor="ctr"/>
                </a:tc>
                <a:extLst>
                  <a:ext uri="{0D108BD9-81ED-4DB2-BD59-A6C34878D82A}">
                    <a16:rowId xmlns:a16="http://schemas.microsoft.com/office/drawing/2014/main" val="4210543179"/>
                  </a:ext>
                </a:extLst>
              </a:tr>
              <a:tr h="491284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 dirty="0" err="1">
                          <a:effectLst/>
                        </a:rPr>
                        <a:t>클록</a:t>
                      </a:r>
                      <a:r>
                        <a:rPr lang="ko-KR" altLang="en-US" sz="1600" b="0" dirty="0">
                          <a:effectLst/>
                        </a:rPr>
                        <a:t> </a:t>
                      </a:r>
                      <a:r>
                        <a:rPr lang="ko-KR" altLang="en-US" sz="1600" b="0" dirty="0" err="1">
                          <a:effectLst/>
                        </a:rPr>
                        <a:t>게이팅</a:t>
                      </a:r>
                      <a:endParaRPr lang="en-CA" altLang="ko-KR" sz="1600" b="0" dirty="0">
                        <a:effectLst/>
                      </a:endParaRPr>
                    </a:p>
                    <a:p>
                      <a:pPr algn="ctr" fontAlgn="base" latinLnBrk="0"/>
                      <a:r>
                        <a:rPr lang="en-US" altLang="ko-KR" sz="1600" b="0" dirty="0">
                          <a:effectLst/>
                        </a:rPr>
                        <a:t>(</a:t>
                      </a:r>
                      <a:r>
                        <a:rPr lang="en-CA" sz="1600" b="0" dirty="0">
                          <a:effectLst/>
                        </a:rPr>
                        <a:t>Clock Gating)</a:t>
                      </a:r>
                      <a:endParaRPr lang="en-CA" sz="1600" dirty="0">
                        <a:effectLst/>
                      </a:endParaRP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>
                          <a:effectLst/>
                        </a:rPr>
                        <a:t>필요하지 않은 블록에 클록을 차단하여 전력 소비를 줄임</a:t>
                      </a: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dirty="0">
                          <a:effectLst/>
                        </a:rPr>
                        <a:t>동적 전력 관리</a:t>
                      </a:r>
                      <a:endParaRPr lang="en-CA" altLang="ko-KR" sz="1600" dirty="0">
                        <a:effectLst/>
                      </a:endParaRPr>
                    </a:p>
                    <a:p>
                      <a:pPr algn="ctr" fontAlgn="base" latinLnBrk="0"/>
                      <a:r>
                        <a:rPr lang="en-US" altLang="ko-KR" sz="1600" dirty="0">
                          <a:effectLst/>
                        </a:rPr>
                        <a:t>(</a:t>
                      </a:r>
                      <a:r>
                        <a:rPr lang="en-CA" sz="1600" dirty="0">
                          <a:effectLst/>
                        </a:rPr>
                        <a:t>Dynamic Power Management), </a:t>
                      </a:r>
                      <a:r>
                        <a:rPr lang="ko-KR" altLang="en-US" sz="1600" dirty="0">
                          <a:effectLst/>
                        </a:rPr>
                        <a:t>타이밍 분석</a:t>
                      </a:r>
                    </a:p>
                  </a:txBody>
                  <a:tcPr marL="20144" marR="20144" marT="10072" marB="10072" anchor="ctr"/>
                </a:tc>
                <a:extLst>
                  <a:ext uri="{0D108BD9-81ED-4DB2-BD59-A6C34878D82A}">
                    <a16:rowId xmlns:a16="http://schemas.microsoft.com/office/drawing/2014/main" val="2164086338"/>
                  </a:ext>
                </a:extLst>
              </a:tr>
              <a:tr h="491284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>
                          <a:effectLst/>
                        </a:rPr>
                        <a:t>테스트 및 디버깅</a:t>
                      </a:r>
                      <a:endParaRPr lang="ko-KR" altLang="en-US" sz="1600">
                        <a:effectLst/>
                      </a:endParaRP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>
                          <a:effectLst/>
                        </a:rPr>
                        <a:t>클록 시스템의 기능 검증 및 오류 수정</a:t>
                      </a:r>
                    </a:p>
                  </a:txBody>
                  <a:tcPr marL="20144" marR="20144" marT="10072" marB="10072" anchor="ctr"/>
                </a:tc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dirty="0" err="1">
                          <a:effectLst/>
                        </a:rPr>
                        <a:t>프로브</a:t>
                      </a:r>
                      <a:r>
                        <a:rPr lang="ko-KR" altLang="en-US" sz="1600" dirty="0">
                          <a:effectLst/>
                        </a:rPr>
                        <a:t> 삽입</a:t>
                      </a:r>
                      <a:r>
                        <a:rPr lang="en-US" altLang="ko-KR" sz="1600" dirty="0"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effectLst/>
                        </a:rPr>
                        <a:t>시뮬레이션 및 하드웨어 디버깅 도구 활용</a:t>
                      </a:r>
                    </a:p>
                  </a:txBody>
                  <a:tcPr marL="20144" marR="20144" marT="10072" marB="10072" anchor="ctr"/>
                </a:tc>
                <a:extLst>
                  <a:ext uri="{0D108BD9-81ED-4DB2-BD59-A6C34878D82A}">
                    <a16:rowId xmlns:a16="http://schemas.microsoft.com/office/drawing/2014/main" val="183155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655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7A73C4-3CD8-5CBE-0166-831AC754218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2730" y="264457"/>
            <a:ext cx="10515600" cy="620713"/>
          </a:xfrm>
        </p:spPr>
        <p:txBody>
          <a:bodyPr>
            <a:normAutofit/>
          </a:bodyPr>
          <a:lstStyle/>
          <a:p>
            <a:r>
              <a:rPr lang="en-US" altLang="ko-KR" sz="3200" dirty="0"/>
              <a:t>SoC </a:t>
            </a:r>
            <a:r>
              <a:rPr lang="ko-KR" altLang="en-US" sz="3200" dirty="0"/>
              <a:t>기본 </a:t>
            </a:r>
            <a:r>
              <a:rPr lang="en-US" altLang="ko-KR" sz="3200" dirty="0"/>
              <a:t>System Clock </a:t>
            </a:r>
            <a:r>
              <a:rPr lang="ko-KR" altLang="en-US" sz="3200" b="0" i="0" dirty="0">
                <a:effectLst/>
                <a:latin typeface="fkGroteskNeue"/>
              </a:rPr>
              <a:t>설계 시 주의할 점</a:t>
            </a:r>
            <a:endParaRPr lang="en-CA" sz="3200" dirty="0"/>
          </a:p>
        </p:txBody>
      </p:sp>
      <p:pic>
        <p:nvPicPr>
          <p:cNvPr id="11266" name="Picture 2" descr="What is Clock Skew? Understanding Clock Skew in a Clock ...">
            <a:extLst>
              <a:ext uri="{FF2B5EF4-FFF2-40B4-BE49-F238E27FC236}">
                <a16:creationId xmlns:a16="http://schemas.microsoft.com/office/drawing/2014/main" id="{4E5CBF39-C241-E8D0-9E29-6B912F0BF584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571" y="1917729"/>
            <a:ext cx="4026716" cy="332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51CE99-6218-4C9E-8D49-E64119DE30D5}"/>
              </a:ext>
            </a:extLst>
          </p:cNvPr>
          <p:cNvSpPr txBox="1"/>
          <p:nvPr/>
        </p:nvSpPr>
        <p:spPr>
          <a:xfrm>
            <a:off x="5436067" y="1493240"/>
            <a:ext cx="6526634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Blocking</a:t>
            </a:r>
            <a:r>
              <a:rPr lang="ko-KR" altLang="en-US" dirty="0"/>
              <a:t> </a:t>
            </a:r>
            <a:r>
              <a:rPr lang="en-US" altLang="ko-KR" dirty="0"/>
              <a:t>Assignment</a:t>
            </a:r>
            <a:r>
              <a:rPr lang="ko-KR" altLang="en-US" dirty="0"/>
              <a:t>사용</a:t>
            </a:r>
            <a:r>
              <a:rPr lang="en-US" altLang="ko-KR" dirty="0"/>
              <a:t>(=non-blocking assignment </a:t>
            </a:r>
            <a:r>
              <a:rPr lang="ko-KR" altLang="en-US" dirty="0"/>
              <a:t>사용지양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시작 신호는 </a:t>
            </a:r>
            <a:r>
              <a:rPr lang="en-US" altLang="ko-KR" dirty="0"/>
              <a:t>Low(0) </a:t>
            </a:r>
            <a:r>
              <a:rPr lang="ko-KR" altLang="en-US" dirty="0"/>
              <a:t>권장 </a:t>
            </a:r>
            <a:r>
              <a:rPr lang="en-US" altLang="ko-KR" dirty="0"/>
              <a:t>= negative edge</a:t>
            </a:r>
            <a:r>
              <a:rPr lang="ko-KR" altLang="en-US" dirty="0"/>
              <a:t>로 초기화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</a:t>
            </a:r>
            <a:r>
              <a:rPr lang="ko-KR" altLang="en-US" dirty="0"/>
              <a:t> </a:t>
            </a:r>
            <a:r>
              <a:rPr lang="en-US" altLang="ko-KR" dirty="0"/>
              <a:t>Delay</a:t>
            </a:r>
            <a:r>
              <a:rPr lang="ko-KR" altLang="en-US" dirty="0"/>
              <a:t> 사용 권장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Clock  Skew </a:t>
            </a:r>
            <a:r>
              <a:rPr lang="en-US" dirty="0"/>
              <a:t>: </a:t>
            </a:r>
            <a:r>
              <a:rPr lang="ko-KR" altLang="en-US" dirty="0"/>
              <a:t>레지스터간 </a:t>
            </a:r>
            <a:r>
              <a:rPr lang="ko-KR" altLang="en-US" dirty="0" err="1"/>
              <a:t>클록</a:t>
            </a:r>
            <a:r>
              <a:rPr lang="ko-KR" altLang="en-US" dirty="0"/>
              <a:t> 소스와의 물리적 거리 차이로 인해 </a:t>
            </a:r>
            <a:r>
              <a:rPr lang="ko-KR" altLang="en-US" dirty="0" err="1"/>
              <a:t>클록</a:t>
            </a:r>
            <a:r>
              <a:rPr lang="ko-KR" altLang="en-US" dirty="0"/>
              <a:t> 신호가 도달하는 시간 차이 발생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Buffer</a:t>
            </a:r>
            <a:r>
              <a:rPr lang="ko-KR" altLang="en-US" sz="1600" dirty="0"/>
              <a:t>를 사용하여 </a:t>
            </a:r>
            <a:r>
              <a:rPr lang="ko-KR" altLang="en-US" sz="1600" dirty="0" err="1"/>
              <a:t>클록이</a:t>
            </a:r>
            <a:r>
              <a:rPr lang="ko-KR" altLang="en-US" sz="1600" dirty="0"/>
              <a:t> 빨리 도착하는 레지스터에 지연을 주어 타이밍을 맞추는 방법 사용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Fan-out</a:t>
            </a:r>
            <a:r>
              <a:rPr lang="en-US" sz="1600" dirty="0"/>
              <a:t> : </a:t>
            </a:r>
            <a:r>
              <a:rPr lang="ko-KR" altLang="en-US" sz="1600" dirty="0"/>
              <a:t>한</a:t>
            </a:r>
            <a:r>
              <a:rPr lang="en-US" sz="1600" dirty="0"/>
              <a:t> </a:t>
            </a:r>
            <a:r>
              <a:rPr lang="ko-KR" altLang="en-US" sz="1600" dirty="0"/>
              <a:t>논리게이트의 출력이 몇 개의 논리게이트의 입력으로 들어갈 수 있는가를 나타냄 </a:t>
            </a:r>
            <a:r>
              <a:rPr lang="en-US" altLang="ko-KR" sz="1600" dirty="0"/>
              <a:t>→ </a:t>
            </a:r>
            <a:r>
              <a:rPr lang="ko-KR" altLang="en-US" sz="1600" dirty="0"/>
              <a:t>출력단에 걸 수 있는 전류의 제한 때문에 중요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Buffer</a:t>
            </a:r>
            <a:r>
              <a:rPr lang="ko-KR" altLang="en-US" sz="1600" dirty="0"/>
              <a:t>를 사용하여 </a:t>
            </a:r>
            <a:r>
              <a:rPr lang="en-US" altLang="ko-KR" sz="1600" dirty="0"/>
              <a:t>Fan-out</a:t>
            </a:r>
            <a:r>
              <a:rPr lang="ko-KR" altLang="en-US" sz="1600" dirty="0"/>
              <a:t>을 증가시킴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67441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Specification</a:t>
            </a:r>
            <a:endParaRPr lang="en-CA" sz="32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18E2E1D8-46BC-4763-8295-D4B0B4B5D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701" y="1917132"/>
            <a:ext cx="7271582" cy="302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7456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LAB1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System Clock Pre-scaler</a:t>
            </a:r>
            <a:endParaRPr lang="en-CA" sz="32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70AA30B-B06E-4B43-8C39-A04FCA3F2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62" y="1145593"/>
            <a:ext cx="5212626" cy="216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9E8A96A-F3E0-40DE-8108-A74BD0B6D431}"/>
              </a:ext>
            </a:extLst>
          </p:cNvPr>
          <p:cNvSpPr/>
          <p:nvPr/>
        </p:nvSpPr>
        <p:spPr>
          <a:xfrm>
            <a:off x="2600587" y="1145593"/>
            <a:ext cx="973123" cy="1597607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D455FE-737C-47AF-96FE-0B1F173FF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112" y="3313155"/>
            <a:ext cx="4733925" cy="3371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CD8601-57A1-47EC-8EAE-A959F23AEE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449" y="3313154"/>
            <a:ext cx="5292240" cy="337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228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LAB2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Clock Control Unit</a:t>
            </a:r>
            <a:endParaRPr lang="en-CA" sz="32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70AA30B-B06E-4B43-8C39-A04FCA3F2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174" y="1129132"/>
            <a:ext cx="5212626" cy="216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9E8A96A-F3E0-40DE-8108-A74BD0B6D431}"/>
              </a:ext>
            </a:extLst>
          </p:cNvPr>
          <p:cNvSpPr/>
          <p:nvPr/>
        </p:nvSpPr>
        <p:spPr>
          <a:xfrm>
            <a:off x="6377948" y="1093795"/>
            <a:ext cx="973123" cy="1597607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94BA8-B4DA-447D-938B-35A1CF912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7655" y="3496113"/>
            <a:ext cx="3003171" cy="29688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9E4FBA0-54E7-48BE-98BB-86C02E5385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449" y="3496114"/>
            <a:ext cx="4383531" cy="296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694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97D506-1D61-78BB-9206-899F08D9607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54342" y="365925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Testbench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C6655B-2428-44FA-BFCC-2E4ECC334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42" y="1260708"/>
            <a:ext cx="4718113" cy="45276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178CC3-E9BF-4C5A-B051-FE1C12760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9935" y="1260707"/>
            <a:ext cx="5535685" cy="452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998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5C10B-FE32-0C97-4059-C66A70977A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9854" y="311490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Waveform</a:t>
            </a:r>
            <a:endParaRPr lang="en-CA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0D268B-20DE-447F-CEC8-3F3021FC82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0118" y="1053663"/>
            <a:ext cx="10515600" cy="5056188"/>
          </a:xfrm>
        </p:spPr>
        <p:txBody>
          <a:bodyPr/>
          <a:lstStyle/>
          <a:p>
            <a:pPr marL="0" indent="0">
              <a:buNone/>
            </a:pPr>
            <a:endParaRPr lang="en-CA" altLang="ko-KR" dirty="0"/>
          </a:p>
          <a:p>
            <a:pPr lvl="1"/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BA0D09-7A52-4614-94E1-49BB8B2D1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025" y="2409825"/>
            <a:ext cx="9505950" cy="20383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8F1E8B-79C4-4E82-95E3-5AB56763BB92}"/>
              </a:ext>
            </a:extLst>
          </p:cNvPr>
          <p:cNvSpPr/>
          <p:nvPr/>
        </p:nvSpPr>
        <p:spPr>
          <a:xfrm>
            <a:off x="4194495" y="3363985"/>
            <a:ext cx="1786855" cy="108419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875032-CC4F-45D8-9AC9-E19FD16EB0F6}"/>
              </a:ext>
            </a:extLst>
          </p:cNvPr>
          <p:cNvSpPr/>
          <p:nvPr/>
        </p:nvSpPr>
        <p:spPr>
          <a:xfrm>
            <a:off x="5999665" y="3363985"/>
            <a:ext cx="1609184" cy="108419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69FEFD-D33A-4A4D-80A0-DF0AD2FF8034}"/>
              </a:ext>
            </a:extLst>
          </p:cNvPr>
          <p:cNvSpPr/>
          <p:nvPr/>
        </p:nvSpPr>
        <p:spPr>
          <a:xfrm>
            <a:off x="7608848" y="3363985"/>
            <a:ext cx="1887489" cy="108419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9822D-FD3B-421F-9200-CCFC0202494E}"/>
              </a:ext>
            </a:extLst>
          </p:cNvPr>
          <p:cNvSpPr txBox="1"/>
          <p:nvPr/>
        </p:nvSpPr>
        <p:spPr>
          <a:xfrm>
            <a:off x="4775694" y="4112256"/>
            <a:ext cx="645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4</a:t>
            </a:r>
            <a:r>
              <a:rPr lang="ko-KR" altLang="en-US" sz="1400" b="1" dirty="0"/>
              <a:t>분주</a:t>
            </a:r>
            <a:endParaRPr lang="en-US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2CA774-707F-4577-8143-24D9D8F0CC11}"/>
              </a:ext>
            </a:extLst>
          </p:cNvPr>
          <p:cNvSpPr txBox="1"/>
          <p:nvPr/>
        </p:nvSpPr>
        <p:spPr>
          <a:xfrm>
            <a:off x="6481281" y="4116629"/>
            <a:ext cx="645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8</a:t>
            </a:r>
            <a:r>
              <a:rPr lang="ko-KR" altLang="en-US" sz="1400" b="1" dirty="0"/>
              <a:t>분주</a:t>
            </a:r>
            <a:endParaRPr lang="en-US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B851B3-9252-45BE-A278-A8EF941B1230}"/>
              </a:ext>
            </a:extLst>
          </p:cNvPr>
          <p:cNvSpPr txBox="1"/>
          <p:nvPr/>
        </p:nvSpPr>
        <p:spPr>
          <a:xfrm>
            <a:off x="8186868" y="4112257"/>
            <a:ext cx="873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16</a:t>
            </a:r>
            <a:r>
              <a:rPr lang="ko-KR" altLang="en-US" sz="1400" b="1" dirty="0"/>
              <a:t>분주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86036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2. Reset</a:t>
            </a:r>
          </a:p>
        </p:txBody>
      </p:sp>
    </p:spTree>
    <p:extLst>
      <p:ext uri="{BB962C8B-B14F-4D97-AF65-F5344CB8AC3E}">
        <p14:creationId xmlns:p14="http://schemas.microsoft.com/office/powerpoint/2010/main" val="1547341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E6E30-7FAB-DE7B-A00C-5521B6D3B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CB9EE-0A04-1423-1758-11AB63C9802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245465"/>
            <a:ext cx="10515600" cy="620713"/>
          </a:xfrm>
        </p:spPr>
        <p:txBody>
          <a:bodyPr/>
          <a:lstStyle/>
          <a:p>
            <a:r>
              <a:rPr lang="en-US" sz="2800" dirty="0"/>
              <a:t>Reset in SoC</a:t>
            </a:r>
            <a:endParaRPr lang="en-CA" sz="28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3B627DF-2C14-B6BE-6957-751D995FE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878224"/>
              </p:ext>
            </p:extLst>
          </p:nvPr>
        </p:nvGraphicFramePr>
        <p:xfrm>
          <a:off x="838200" y="986118"/>
          <a:ext cx="10515600" cy="5626417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2300499">
                  <a:extLst>
                    <a:ext uri="{9D8B030D-6E8A-4147-A177-3AD203B41FA5}">
                      <a16:colId xmlns:a16="http://schemas.microsoft.com/office/drawing/2014/main" val="4033172354"/>
                    </a:ext>
                  </a:extLst>
                </a:gridCol>
                <a:gridCol w="8215101">
                  <a:extLst>
                    <a:ext uri="{9D8B030D-6E8A-4147-A177-3AD203B41FA5}">
                      <a16:colId xmlns:a16="http://schemas.microsoft.com/office/drawing/2014/main" val="253019251"/>
                    </a:ext>
                  </a:extLst>
                </a:gridCol>
              </a:tblGrid>
              <a:tr h="307847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1600" b="1" dirty="0"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23394" marR="23394" marT="11697" marB="11697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1600" b="1" dirty="0"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23394" marR="23394" marT="11697" marB="11697"/>
                </a:tc>
                <a:extLst>
                  <a:ext uri="{0D108BD9-81ED-4DB2-BD59-A6C34878D82A}">
                    <a16:rowId xmlns:a16="http://schemas.microsoft.com/office/drawing/2014/main" val="2866448718"/>
                  </a:ext>
                </a:extLst>
              </a:tr>
              <a:tr h="118735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b="0" dirty="0">
                          <a:effectLst/>
                          <a:latin typeface="+mn-ea"/>
                          <a:ea typeface="+mn-ea"/>
                        </a:rPr>
                        <a:t>리셋의 정의</a:t>
                      </a:r>
                      <a:endParaRPr lang="ko-KR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3394" marR="23394" marT="11697" marB="1169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디지털 회로를 초기 상태로 강제 설정하여 정상적인 동작을 보장하는 신호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시스템을 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알려진 상태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로 만듦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3394" marR="23394" marT="11697" marB="11697" anchor="ctr"/>
                </a:tc>
                <a:extLst>
                  <a:ext uri="{0D108BD9-81ED-4DB2-BD59-A6C34878D82A}">
                    <a16:rowId xmlns:a16="http://schemas.microsoft.com/office/drawing/2014/main" val="1891151689"/>
                  </a:ext>
                </a:extLst>
              </a:tr>
              <a:tr h="465434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b="0" dirty="0">
                          <a:effectLst/>
                          <a:latin typeface="+mn-ea"/>
                          <a:ea typeface="+mn-ea"/>
                        </a:rPr>
                        <a:t>리셋의 필요성</a:t>
                      </a:r>
                      <a:endParaRPr lang="ko-KR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3394" marR="23394" marT="11697" marB="1169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칩 초기화 시 정상 동작 보장</a:t>
                      </a:r>
                      <a:b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비정상 상태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예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클럭 손실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통신 오류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에서 복구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3394" marR="23394" marT="11697" marB="11697" anchor="ctr"/>
                </a:tc>
                <a:extLst>
                  <a:ext uri="{0D108BD9-81ED-4DB2-BD59-A6C34878D82A}">
                    <a16:rowId xmlns:a16="http://schemas.microsoft.com/office/drawing/2014/main" val="894101158"/>
                  </a:ext>
                </a:extLst>
              </a:tr>
              <a:tr h="521852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b="0">
                          <a:effectLst/>
                          <a:latin typeface="+mn-ea"/>
                          <a:ea typeface="+mn-ea"/>
                        </a:rPr>
                        <a:t>리셋의 유형</a:t>
                      </a:r>
                      <a:endParaRPr lang="ko-KR" altLang="en-US" sz="1600">
                        <a:effectLst/>
                        <a:latin typeface="+mn-ea"/>
                        <a:ea typeface="+mn-ea"/>
                      </a:endParaRPr>
                    </a:p>
                  </a:txBody>
                  <a:tcPr marL="23394" marR="23394" marT="11697" marB="1169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 </a:t>
                      </a:r>
                      <a:r>
                        <a:rPr lang="ko-KR" altLang="en-US" sz="1600" b="0" dirty="0">
                          <a:effectLst/>
                          <a:latin typeface="+mn-ea"/>
                          <a:ea typeface="+mn-ea"/>
                        </a:rPr>
                        <a:t>동기식 리셋</a:t>
                      </a:r>
                      <a:r>
                        <a:rPr lang="en-US" altLang="ko-KR" sz="1600" b="0" dirty="0">
                          <a:effectLst/>
                          <a:latin typeface="+mn-ea"/>
                          <a:ea typeface="+mn-ea"/>
                        </a:rPr>
                        <a:t>(Synchronous Reset)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클럭 신호에 동기화되어 동작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 </a:t>
                      </a:r>
                      <a:r>
                        <a:rPr lang="ko-KR" altLang="en-US" sz="1600" b="0" dirty="0">
                          <a:effectLst/>
                          <a:latin typeface="+mn-ea"/>
                          <a:ea typeface="+mn-ea"/>
                        </a:rPr>
                        <a:t>비동기식 리셋</a:t>
                      </a:r>
                      <a:r>
                        <a:rPr lang="en-US" altLang="ko-KR" sz="1600" b="0" dirty="0">
                          <a:effectLst/>
                          <a:latin typeface="+mn-ea"/>
                          <a:ea typeface="+mn-ea"/>
                        </a:rPr>
                        <a:t>(Asynchronous Reset)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클럭 신호와 무관하게 즉시 동작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3394" marR="23394" marT="11697" marB="11697" anchor="ctr"/>
                </a:tc>
                <a:extLst>
                  <a:ext uri="{0D108BD9-81ED-4DB2-BD59-A6C34878D82A}">
                    <a16:rowId xmlns:a16="http://schemas.microsoft.com/office/drawing/2014/main" val="2830536457"/>
                  </a:ext>
                </a:extLst>
              </a:tr>
              <a:tr h="686056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b="0">
                          <a:effectLst/>
                          <a:latin typeface="+mn-ea"/>
                          <a:ea typeface="+mn-ea"/>
                        </a:rPr>
                        <a:t>동기식 리셋 특징</a:t>
                      </a:r>
                      <a:endParaRPr lang="ko-KR" altLang="en-US" sz="1600">
                        <a:effectLst/>
                        <a:latin typeface="+mn-ea"/>
                        <a:ea typeface="+mn-ea"/>
                      </a:endParaRPr>
                    </a:p>
                  </a:txBody>
                  <a:tcPr marL="23394" marR="23394" marT="11697" marB="1169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클럭 </a:t>
                      </a:r>
                      <a:r>
                        <a:rPr lang="ko-KR" altLang="en-US" sz="1600" dirty="0" err="1">
                          <a:effectLst/>
                          <a:latin typeface="+mn-ea"/>
                          <a:ea typeface="+mn-ea"/>
                        </a:rPr>
                        <a:t>엣지에서만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 리셋 신호 샘플링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 err="1">
                          <a:effectLst/>
                          <a:latin typeface="+mn-ea"/>
                          <a:ea typeface="+mn-ea"/>
                        </a:rPr>
                        <a:t>메타스테이블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 문제 없음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클럭 신호가 필요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3394" marR="23394" marT="11697" marB="11697" anchor="ctr"/>
                </a:tc>
                <a:extLst>
                  <a:ext uri="{0D108BD9-81ED-4DB2-BD59-A6C34878D82A}">
                    <a16:rowId xmlns:a16="http://schemas.microsoft.com/office/drawing/2014/main" val="2971359320"/>
                  </a:ext>
                </a:extLst>
              </a:tr>
              <a:tr h="686056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b="0">
                          <a:effectLst/>
                          <a:latin typeface="+mn-ea"/>
                          <a:ea typeface="+mn-ea"/>
                        </a:rPr>
                        <a:t>비동기식 리셋 특징</a:t>
                      </a:r>
                      <a:endParaRPr lang="ko-KR" altLang="en-US" sz="1600">
                        <a:effectLst/>
                        <a:latin typeface="+mn-ea"/>
                        <a:ea typeface="+mn-ea"/>
                      </a:endParaRPr>
                    </a:p>
                  </a:txBody>
                  <a:tcPr marL="23394" marR="23394" marT="11697" marB="1169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클럭 없이 즉시 리셋 가능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빠른 초기화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 err="1">
                          <a:effectLst/>
                          <a:latin typeface="+mn-ea"/>
                          <a:ea typeface="+mn-ea"/>
                        </a:rPr>
                        <a:t>메타스테이블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 및 </a:t>
                      </a:r>
                      <a:r>
                        <a:rPr lang="ko-KR" altLang="en-US" sz="1600" dirty="0" err="1">
                          <a:effectLst/>
                          <a:latin typeface="+mn-ea"/>
                          <a:ea typeface="+mn-ea"/>
                        </a:rPr>
                        <a:t>글리치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 발생 가능성 있음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3394" marR="23394" marT="11697" marB="11697" anchor="ctr"/>
                </a:tc>
                <a:extLst>
                  <a:ext uri="{0D108BD9-81ED-4DB2-BD59-A6C34878D82A}">
                    <a16:rowId xmlns:a16="http://schemas.microsoft.com/office/drawing/2014/main" val="2415579461"/>
                  </a:ext>
                </a:extLst>
              </a:tr>
              <a:tr h="686056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b="0">
                          <a:effectLst/>
                          <a:latin typeface="+mn-ea"/>
                          <a:ea typeface="+mn-ea"/>
                        </a:rPr>
                        <a:t>리셋 설계 시 고려사항</a:t>
                      </a:r>
                      <a:endParaRPr lang="ko-KR" altLang="en-US" sz="1600">
                        <a:effectLst/>
                        <a:latin typeface="+mn-ea"/>
                        <a:ea typeface="+mn-ea"/>
                      </a:endParaRPr>
                    </a:p>
                  </a:txBody>
                  <a:tcPr marL="23394" marR="23394" marT="11697" marB="1169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모든 </a:t>
                      </a:r>
                      <a:r>
                        <a:rPr lang="ko-KR" altLang="en-US" sz="1600" dirty="0" err="1">
                          <a:effectLst/>
                          <a:latin typeface="+mn-ea"/>
                          <a:ea typeface="+mn-ea"/>
                        </a:rPr>
                        <a:t>플립플롭을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dirty="0" err="1">
                          <a:effectLst/>
                          <a:latin typeface="+mn-ea"/>
                          <a:ea typeface="+mn-ea"/>
                        </a:rPr>
                        <a:t>리셋할지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 여부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리셋 트리 구조 및 타이밍 검증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멀티 클럭 도메인에서의 리셋 처리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3394" marR="23394" marT="11697" marB="11697" anchor="ctr"/>
                </a:tc>
                <a:extLst>
                  <a:ext uri="{0D108BD9-81ED-4DB2-BD59-A6C34878D82A}">
                    <a16:rowId xmlns:a16="http://schemas.microsoft.com/office/drawing/2014/main" val="643827327"/>
                  </a:ext>
                </a:extLst>
              </a:tr>
              <a:tr h="906677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b="0">
                          <a:effectLst/>
                          <a:latin typeface="+mn-ea"/>
                          <a:ea typeface="+mn-ea"/>
                        </a:rPr>
                        <a:t>리셋의 주요 사용 사례</a:t>
                      </a:r>
                      <a:endParaRPr lang="ko-KR" altLang="en-US" sz="1600">
                        <a:effectLst/>
                        <a:latin typeface="+mn-ea"/>
                        <a:ea typeface="+mn-ea"/>
                      </a:endParaRPr>
                    </a:p>
                  </a:txBody>
                  <a:tcPr marL="23394" marR="23394" marT="11697" marB="1169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전원 </a:t>
                      </a:r>
                      <a:r>
                        <a:rPr lang="ko-KR" altLang="en-US" sz="1600" dirty="0" err="1">
                          <a:effectLst/>
                          <a:latin typeface="+mn-ea"/>
                          <a:ea typeface="+mn-ea"/>
                        </a:rPr>
                        <a:t>켜짐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 초기화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통신 채널 재동기화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사용자 버튼 리셋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 err="1">
                          <a:effectLst/>
                          <a:latin typeface="+mn-ea"/>
                          <a:ea typeface="+mn-ea"/>
                        </a:rPr>
                        <a:t>워치독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 타이머 만료 후 시스템 복구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3394" marR="23394" marT="11697" marB="11697" anchor="ctr"/>
                </a:tc>
                <a:extLst>
                  <a:ext uri="{0D108BD9-81ED-4DB2-BD59-A6C34878D82A}">
                    <a16:rowId xmlns:a16="http://schemas.microsoft.com/office/drawing/2014/main" val="1861796717"/>
                  </a:ext>
                </a:extLst>
              </a:tr>
              <a:tr h="465434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b="0">
                          <a:effectLst/>
                          <a:latin typeface="+mn-ea"/>
                          <a:ea typeface="+mn-ea"/>
                        </a:rPr>
                        <a:t>리셋 관련 문제점</a:t>
                      </a:r>
                      <a:endParaRPr lang="ko-KR" altLang="en-US" sz="1600">
                        <a:effectLst/>
                        <a:latin typeface="+mn-ea"/>
                        <a:ea typeface="+mn-ea"/>
                      </a:endParaRPr>
                    </a:p>
                  </a:txBody>
                  <a:tcPr marL="23394" marR="23394" marT="11697" marB="1169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비동기식 리셋 해제 시 </a:t>
                      </a:r>
                      <a:r>
                        <a:rPr lang="ko-KR" altLang="en-US" sz="1600" dirty="0" err="1">
                          <a:effectLst/>
                          <a:latin typeface="+mn-ea"/>
                          <a:ea typeface="+mn-ea"/>
                        </a:rPr>
                        <a:t>메타스테이블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 가능성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동기식 리셋은 클럭이 없으면 동작하지 않음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3394" marR="23394" marT="11697" marB="11697" anchor="ctr"/>
                </a:tc>
                <a:extLst>
                  <a:ext uri="{0D108BD9-81ED-4DB2-BD59-A6C34878D82A}">
                    <a16:rowId xmlns:a16="http://schemas.microsoft.com/office/drawing/2014/main" val="2594893932"/>
                  </a:ext>
                </a:extLst>
              </a:tr>
            </a:tbl>
          </a:graphicData>
        </a:graphic>
      </p:graphicFrame>
      <p:pic>
        <p:nvPicPr>
          <p:cNvPr id="11" name="Picture 2" descr="Differences between Asynchronous and Synchronous Resets">
            <a:extLst>
              <a:ext uri="{FF2B5EF4-FFF2-40B4-BE49-F238E27FC236}">
                <a16:creationId xmlns:a16="http://schemas.microsoft.com/office/drawing/2014/main" id="{3266446A-F871-BE4B-2F43-7187F9C95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9237" y="3304026"/>
            <a:ext cx="4461206" cy="2487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4371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A89C4-82A8-0EBA-FBE7-7264C2F508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20118" y="320582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CA" dirty="0"/>
              <a:t>Asynchronous Reset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EF559A-691C-19C9-2FAA-76044DA531A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174459" y="1137553"/>
            <a:ext cx="10515600" cy="5056188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+mn-ea"/>
              </a:rPr>
              <a:t>비동기식 리셋</a:t>
            </a:r>
            <a:r>
              <a:rPr lang="en-US" altLang="ko-KR" sz="2000" dirty="0">
                <a:latin typeface="+mn-ea"/>
              </a:rPr>
              <a:t>(Asynchronous Reset)</a:t>
            </a:r>
            <a:endParaRPr lang="en-CA" altLang="ko-KR" sz="2000" dirty="0">
              <a:latin typeface="+mn-ea"/>
            </a:endParaRPr>
          </a:p>
          <a:p>
            <a:pPr lvl="1"/>
            <a:r>
              <a:rPr lang="ko-KR" altLang="en-US" sz="1800" dirty="0" err="1">
                <a:latin typeface="+mn-ea"/>
              </a:rPr>
              <a:t>클록</a:t>
            </a:r>
            <a:r>
              <a:rPr lang="ko-KR" altLang="en-US" sz="1800" dirty="0">
                <a:latin typeface="+mn-ea"/>
              </a:rPr>
              <a:t> 신호와 무관하게 즉시 작동</a:t>
            </a:r>
            <a:endParaRPr lang="en-US" altLang="ko-KR" sz="1800" dirty="0">
              <a:latin typeface="+mn-ea"/>
            </a:endParaRPr>
          </a:p>
          <a:p>
            <a:pPr lvl="1"/>
            <a:r>
              <a:rPr lang="ko-KR" altLang="en-US" sz="1800" dirty="0">
                <a:latin typeface="+mn-ea"/>
              </a:rPr>
              <a:t>빠른 리셋이 가능하지만 동기화 문제가 발생할 수 있음</a:t>
            </a:r>
            <a:endParaRPr lang="en-CA" sz="1800" dirty="0">
              <a:latin typeface="+mn-ea"/>
            </a:endParaRPr>
          </a:p>
          <a:p>
            <a:pPr marL="971550" lvl="1" indent="-514350">
              <a:buFont typeface="+mj-lt"/>
              <a:buAutoNum type="arabicPeriod"/>
            </a:pPr>
            <a:endParaRPr lang="en-CA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17112E5-EE84-A7EB-0569-6A2CD9A83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186" y="2386627"/>
            <a:ext cx="6047227" cy="3244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003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8915CC-6388-8432-7827-7D0E5BC51CF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98290" y="1036885"/>
            <a:ext cx="10515600" cy="5056188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latin typeface="+mn-ea"/>
              </a:rPr>
              <a:t>동기식 리셋</a:t>
            </a:r>
            <a:r>
              <a:rPr lang="en-US" altLang="ko-KR" sz="2000" dirty="0">
                <a:latin typeface="+mn-ea"/>
              </a:rPr>
              <a:t>(Synchronous Reset)</a:t>
            </a:r>
          </a:p>
          <a:p>
            <a:pPr lvl="1"/>
            <a:r>
              <a:rPr lang="ko-KR" altLang="en-US" sz="1600" dirty="0" err="1">
                <a:latin typeface="+mn-ea"/>
              </a:rPr>
              <a:t>클록</a:t>
            </a:r>
            <a:r>
              <a:rPr lang="ko-KR" altLang="en-US" sz="1600" dirty="0">
                <a:latin typeface="+mn-ea"/>
              </a:rPr>
              <a:t> 신호에 동기화되어 작동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리셋 시 다음 </a:t>
            </a:r>
            <a:r>
              <a:rPr lang="ko-KR" altLang="en-US" sz="1600" dirty="0" err="1">
                <a:latin typeface="+mn-ea"/>
              </a:rPr>
              <a:t>클록</a:t>
            </a:r>
            <a:r>
              <a:rPr lang="ko-KR" altLang="en-US" sz="1600" dirty="0">
                <a:latin typeface="+mn-ea"/>
              </a:rPr>
              <a:t> </a:t>
            </a:r>
            <a:r>
              <a:rPr lang="ko-KR" altLang="en-US" sz="1600" dirty="0" err="1">
                <a:latin typeface="+mn-ea"/>
              </a:rPr>
              <a:t>에지에서</a:t>
            </a:r>
            <a:r>
              <a:rPr lang="ko-KR" altLang="en-US" sz="1600" dirty="0">
                <a:latin typeface="+mn-ea"/>
              </a:rPr>
              <a:t> 시스템이 초기화</a:t>
            </a:r>
            <a:endParaRPr lang="en-US" altLang="ko-KR" sz="1600" dirty="0">
              <a:latin typeface="+mn-ea"/>
            </a:endParaRPr>
          </a:p>
          <a:p>
            <a:pPr lvl="1"/>
            <a:r>
              <a:rPr lang="ko-KR" altLang="en-US" sz="1600" dirty="0" err="1">
                <a:latin typeface="+mn-ea"/>
              </a:rPr>
              <a:t>클록</a:t>
            </a:r>
            <a:r>
              <a:rPr lang="ko-KR" altLang="en-US" sz="1600" dirty="0">
                <a:latin typeface="+mn-ea"/>
              </a:rPr>
              <a:t> 도메인 내에서 일관된 동작을 보장합니다</a:t>
            </a:r>
            <a:endParaRPr lang="en-CA" sz="1600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14E828-D6C6-F6BF-610F-677E42569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702" y="2339515"/>
            <a:ext cx="4019199" cy="34816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01C0A835-A5B6-491B-97C6-16F50F5B933F}"/>
              </a:ext>
            </a:extLst>
          </p:cNvPr>
          <p:cNvSpPr txBox="1">
            <a:spLocks/>
          </p:cNvSpPr>
          <p:nvPr/>
        </p:nvSpPr>
        <p:spPr>
          <a:xfrm>
            <a:off x="520118" y="320582"/>
            <a:ext cx="10515600" cy="620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dirty="0"/>
              <a:t>Synchronous Rest</a:t>
            </a:r>
          </a:p>
        </p:txBody>
      </p:sp>
    </p:spTree>
    <p:extLst>
      <p:ext uri="{BB962C8B-B14F-4D97-AF65-F5344CB8AC3E}">
        <p14:creationId xmlns:p14="http://schemas.microsoft.com/office/powerpoint/2010/main" val="11966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38BAA5-B714-2216-B203-978E2C4C3F8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20118" y="306402"/>
            <a:ext cx="10515600" cy="620713"/>
          </a:xfrm>
        </p:spPr>
        <p:txBody>
          <a:bodyPr>
            <a:noAutofit/>
          </a:bodyPr>
          <a:lstStyle/>
          <a:p>
            <a:r>
              <a:rPr lang="en-US" altLang="ko-KR" sz="4000" dirty="0"/>
              <a:t>Reset </a:t>
            </a:r>
            <a:r>
              <a:rPr lang="ko-KR" altLang="en-US" sz="4000" dirty="0"/>
              <a:t>설계 고려사항</a:t>
            </a:r>
            <a:endParaRPr lang="en-CA" sz="4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8756B0-1C7A-61CC-C526-62B27080F12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79509" y="1112386"/>
            <a:ext cx="10515600" cy="50561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000" dirty="0">
                <a:latin typeface="+mn-ea"/>
              </a:rPr>
              <a:t>ASIC </a:t>
            </a:r>
            <a:r>
              <a:rPr lang="ko-KR" altLang="en-US" sz="2000" dirty="0">
                <a:latin typeface="+mn-ea"/>
              </a:rPr>
              <a:t>설계일반적 리셋의 활성화는 비동기적으로 하고 비활성화은 동기적으로 하는 것이 권장 → 메타안정성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문제 방지</a:t>
            </a:r>
            <a:endParaRPr lang="en-US" altLang="ko-KR" sz="2000" dirty="0">
              <a:latin typeface="+mn-ea"/>
            </a:endParaRPr>
          </a:p>
          <a:p>
            <a:pPr>
              <a:lnSpc>
                <a:spcPct val="100000"/>
              </a:lnSpc>
            </a:pPr>
            <a:endParaRPr lang="en-US" altLang="ko-KR" sz="2000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2000" dirty="0">
                <a:latin typeface="+mn-ea"/>
              </a:rPr>
              <a:t>FPGA </a:t>
            </a:r>
            <a:r>
              <a:rPr lang="ko-KR" altLang="en-US" sz="2000" dirty="0">
                <a:latin typeface="+mn-ea"/>
              </a:rPr>
              <a:t>설계에서는 활성화 비활성화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모두 동기적으로 처리하는 것이 일반적</a:t>
            </a:r>
            <a:endParaRPr lang="en-US" altLang="ko-KR" sz="2000" dirty="0">
              <a:latin typeface="+mn-ea"/>
            </a:endParaRPr>
          </a:p>
          <a:p>
            <a:pPr>
              <a:lnSpc>
                <a:spcPct val="100000"/>
              </a:lnSpc>
            </a:pPr>
            <a:endParaRPr lang="en-US" altLang="ko-KR" sz="2000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ko-KR" altLang="en-US" sz="2000" dirty="0">
                <a:latin typeface="+mn-ea"/>
              </a:rPr>
              <a:t>복잡한 시스템에서는 리셋 </a:t>
            </a:r>
            <a:r>
              <a:rPr lang="ko-KR" altLang="en-US" sz="2000" dirty="0" err="1">
                <a:latin typeface="+mn-ea"/>
              </a:rPr>
              <a:t>시퀀싱</a:t>
            </a:r>
            <a:r>
              <a:rPr lang="en-US" altLang="ko-KR" sz="2000" dirty="0">
                <a:latin typeface="+mn-ea"/>
              </a:rPr>
              <a:t>(Sequencing)</a:t>
            </a:r>
            <a:r>
              <a:rPr lang="ko-KR" altLang="en-US" sz="2000" dirty="0">
                <a:latin typeface="+mn-ea"/>
              </a:rPr>
              <a:t>이 중요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en-US" altLang="ko-KR" sz="20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다양한 모듈</a:t>
            </a:r>
            <a:r>
              <a:rPr lang="en-CA" altLang="ko-KR" sz="1800" dirty="0">
                <a:latin typeface="+mn-ea"/>
              </a:rPr>
              <a:t>,</a:t>
            </a:r>
            <a:r>
              <a:rPr lang="ko-KR" altLang="en-US" sz="1800" dirty="0">
                <a:latin typeface="+mn-ea"/>
              </a:rPr>
              <a:t> 프로세서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 err="1">
                <a:latin typeface="+mn-ea"/>
              </a:rPr>
              <a:t>인터커넥트</a:t>
            </a:r>
            <a:r>
              <a:rPr lang="en-US" altLang="ko-KR" sz="1800" dirty="0">
                <a:latin typeface="+mn-ea"/>
              </a:rPr>
              <a:t>/</a:t>
            </a:r>
            <a:r>
              <a:rPr lang="ko-KR" altLang="en-US" sz="1800" dirty="0">
                <a:latin typeface="+mn-ea"/>
              </a:rPr>
              <a:t>버스 구조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 err="1">
                <a:latin typeface="+mn-ea"/>
              </a:rPr>
              <a:t>주변장치등이</a:t>
            </a:r>
            <a:r>
              <a:rPr lang="ko-KR" altLang="en-US" sz="1800" dirty="0">
                <a:latin typeface="+mn-ea"/>
              </a:rPr>
              <a:t> 함께 </a:t>
            </a:r>
            <a:r>
              <a:rPr lang="ko-KR" altLang="en-US" sz="1800" dirty="0" err="1">
                <a:latin typeface="+mn-ea"/>
              </a:rPr>
              <a:t>리셋되어야</a:t>
            </a:r>
            <a:r>
              <a:rPr lang="ko-KR" altLang="en-US" sz="1800" dirty="0">
                <a:latin typeface="+mn-ea"/>
              </a:rPr>
              <a:t> 하지만 비활성화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시에는 적절한 순서로 진행되어야 할 수 있음</a:t>
            </a:r>
            <a:r>
              <a:rPr lang="en-US" altLang="ko-KR" sz="1800" dirty="0">
                <a:latin typeface="+mn-ea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>
                <a:latin typeface="+mn-ea"/>
              </a:rPr>
              <a:t>일반적으로 시스템의 리셋은 </a:t>
            </a:r>
            <a:r>
              <a:rPr lang="en-US" altLang="ko-KR" sz="1800" dirty="0">
                <a:latin typeface="+mn-ea"/>
              </a:rPr>
              <a:t>PLL</a:t>
            </a:r>
            <a:r>
              <a:rPr lang="ko-KR" altLang="en-US" sz="1800" dirty="0">
                <a:latin typeface="+mn-ea"/>
              </a:rPr>
              <a:t>이 잠기고 </a:t>
            </a:r>
            <a:r>
              <a:rPr lang="ko-KR" altLang="en-US" sz="1800" dirty="0" err="1">
                <a:latin typeface="+mn-ea"/>
              </a:rPr>
              <a:t>클록이</a:t>
            </a:r>
            <a:r>
              <a:rPr lang="ko-KR" altLang="en-US" sz="1800" dirty="0">
                <a:latin typeface="+mn-ea"/>
              </a:rPr>
              <a:t> 안정될 때까지 유지되어야 함</a:t>
            </a:r>
            <a:r>
              <a:rPr lang="en-US" altLang="ko-KR" sz="1800" dirty="0">
                <a:latin typeface="+mn-ea"/>
              </a:rPr>
              <a:t>.</a:t>
            </a:r>
            <a:endParaRPr lang="en-CA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81919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354A83-9CC5-FACC-C437-629D33E2D25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62062" y="256068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US" dirty="0"/>
              <a:t>Reset Guideline</a:t>
            </a:r>
            <a:endParaRPr lang="en-CA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0DFB5-7D16-2AAD-B3C4-FFFE0FFF8D2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4675" y="1045274"/>
            <a:ext cx="10515600" cy="50561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000" dirty="0">
                <a:latin typeface="+mn-ea"/>
              </a:rPr>
              <a:t>Verilog</a:t>
            </a:r>
            <a:r>
              <a:rPr lang="ko-KR" altLang="en-US" sz="2000" dirty="0">
                <a:latin typeface="+mn-ea"/>
              </a:rPr>
              <a:t>에서 </a:t>
            </a:r>
            <a:r>
              <a:rPr lang="ko-KR" altLang="en-US" sz="2000" dirty="0" err="1">
                <a:latin typeface="+mn-ea"/>
              </a:rPr>
              <a:t>클록과</a:t>
            </a:r>
            <a:r>
              <a:rPr lang="ko-KR" altLang="en-US" sz="2000" dirty="0">
                <a:latin typeface="+mn-ea"/>
              </a:rPr>
              <a:t> 리셋을 다음과 같이 구현</a:t>
            </a:r>
            <a:endParaRPr lang="en-US" altLang="ko-KR" sz="2000" dirty="0">
              <a:latin typeface="+mn-ea"/>
            </a:endParaRPr>
          </a:p>
          <a:p>
            <a:pPr lvl="1"/>
            <a:r>
              <a:rPr lang="en-US" altLang="ko-KR" sz="1600" dirty="0">
                <a:latin typeface="+mn-ea"/>
              </a:rPr>
              <a:t>always </a:t>
            </a:r>
            <a:r>
              <a:rPr lang="ko-KR" altLang="en-US" sz="1600" dirty="0">
                <a:latin typeface="+mn-ea"/>
              </a:rPr>
              <a:t>블록에서의 이벤트 리스트</a:t>
            </a:r>
            <a:r>
              <a:rPr lang="en-US" altLang="ko-KR" sz="1600" dirty="0">
                <a:latin typeface="+mn-ea"/>
              </a:rPr>
              <a:t>: </a:t>
            </a:r>
            <a:r>
              <a:rPr lang="ko-KR" altLang="en-US" sz="1600" dirty="0">
                <a:latin typeface="+mn-ea"/>
              </a:rPr>
              <a:t>순차 회로의 </a:t>
            </a:r>
            <a:r>
              <a:rPr lang="en-US" altLang="ko-KR" sz="1600" dirty="0">
                <a:latin typeface="+mn-ea"/>
              </a:rPr>
              <a:t>always </a:t>
            </a:r>
            <a:r>
              <a:rPr lang="ko-KR" altLang="en-US" sz="1600" dirty="0">
                <a:latin typeface="+mn-ea"/>
              </a:rPr>
              <a:t>블록에서 이벤트 리스트</a:t>
            </a:r>
            <a:r>
              <a:rPr lang="en-US" altLang="ko-KR" sz="1600" dirty="0">
                <a:latin typeface="+mn-ea"/>
              </a:rPr>
              <a:t>(sensitivity list)</a:t>
            </a:r>
            <a:r>
              <a:rPr lang="ko-KR" altLang="en-US" sz="1600" dirty="0">
                <a:latin typeface="+mn-ea"/>
              </a:rPr>
              <a:t>에는 </a:t>
            </a:r>
            <a:r>
              <a:rPr lang="ko-KR" altLang="en-US" sz="1600" dirty="0" err="1">
                <a:latin typeface="+mn-ea"/>
              </a:rPr>
              <a:t>클록과</a:t>
            </a:r>
            <a:r>
              <a:rPr lang="ko-KR" altLang="en-US" sz="1600" dirty="0">
                <a:latin typeface="+mn-ea"/>
              </a:rPr>
              <a:t> 리셋만 포함되어야 함</a:t>
            </a:r>
            <a:endParaRPr lang="en-CA" altLang="ko-KR" sz="1600" dirty="0">
              <a:latin typeface="+mn-ea"/>
            </a:endParaRPr>
          </a:p>
          <a:p>
            <a:endParaRPr lang="en-CA" sz="2000" dirty="0">
              <a:latin typeface="+mn-ea"/>
            </a:endParaRPr>
          </a:p>
          <a:p>
            <a:endParaRPr lang="en-CA" sz="2000" dirty="0">
              <a:latin typeface="+mn-ea"/>
            </a:endParaRPr>
          </a:p>
          <a:p>
            <a:endParaRPr lang="en-CA" sz="2000" dirty="0">
              <a:latin typeface="+mn-ea"/>
            </a:endParaRPr>
          </a:p>
          <a:p>
            <a:endParaRPr lang="en-US" altLang="ko-KR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+mn-ea"/>
              </a:rPr>
              <a:t>리셋 초기화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모든 </a:t>
            </a:r>
            <a:r>
              <a:rPr lang="ko-KR" altLang="en-US" sz="2000" dirty="0" err="1">
                <a:latin typeface="+mn-ea"/>
              </a:rPr>
              <a:t>플립플롭은</a:t>
            </a:r>
            <a:r>
              <a:rPr lang="ko-KR" altLang="en-US" sz="2000" dirty="0">
                <a:latin typeface="+mn-ea"/>
              </a:rPr>
              <a:t> 반드시 </a:t>
            </a:r>
            <a:r>
              <a:rPr lang="ko-KR" altLang="en-US" sz="2000" dirty="0" err="1">
                <a:latin typeface="+mn-ea"/>
              </a:rPr>
              <a:t>리셋되어야</a:t>
            </a:r>
            <a:r>
              <a:rPr lang="ko-KR" altLang="en-US" sz="2000" dirty="0">
                <a:latin typeface="+mn-ea"/>
              </a:rPr>
              <a:t> 함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 err="1">
                <a:latin typeface="+mn-ea"/>
              </a:rPr>
              <a:t>리셋하지</a:t>
            </a:r>
            <a:r>
              <a:rPr lang="ko-KR" altLang="en-US" sz="1600" dirty="0">
                <a:latin typeface="+mn-ea"/>
              </a:rPr>
              <a:t> 않으면 초기 전원 인가 시 </a:t>
            </a:r>
            <a:r>
              <a:rPr lang="en-US" altLang="ko-KR" sz="1600" dirty="0">
                <a:latin typeface="+mn-ea"/>
              </a:rPr>
              <a:t>RS </a:t>
            </a:r>
            <a:r>
              <a:rPr lang="ko-KR" altLang="en-US" sz="1600" dirty="0" err="1">
                <a:latin typeface="+mn-ea"/>
              </a:rPr>
              <a:t>플립플롭의</a:t>
            </a:r>
            <a:r>
              <a:rPr lang="ko-KR" altLang="en-US" sz="1600" dirty="0">
                <a:latin typeface="+mn-ea"/>
              </a:rPr>
              <a:t> 구조에 의해 초기값이 예측할 수 없게 됨</a:t>
            </a:r>
            <a:endParaRPr lang="en-CA" sz="1600" dirty="0">
              <a:latin typeface="+mn-ea"/>
            </a:endParaRPr>
          </a:p>
          <a:p>
            <a:endParaRPr lang="en-CA" sz="240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35943DB-327C-25F1-F815-7B0A1F0F38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99" b="30876"/>
          <a:stretch/>
        </p:blipFill>
        <p:spPr>
          <a:xfrm>
            <a:off x="1496451" y="2372162"/>
            <a:ext cx="8796425" cy="111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915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A2748E-A638-7602-F486-8135C3491B3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282700" y="1120775"/>
            <a:ext cx="10909300" cy="50561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000" dirty="0">
                <a:latin typeface="+mn-ea"/>
              </a:rPr>
              <a:t>리셋 에지 타입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+mn-ea"/>
              </a:rPr>
              <a:t>리셋은 일반적으로 </a:t>
            </a:r>
            <a:r>
              <a:rPr lang="en-US" altLang="ko-KR" sz="1600" dirty="0">
                <a:latin typeface="+mn-ea"/>
              </a:rPr>
              <a:t>negative edge(</a:t>
            </a:r>
            <a:r>
              <a:rPr lang="en-US" altLang="ko-KR" sz="1600" dirty="0" err="1">
                <a:latin typeface="+mn-ea"/>
              </a:rPr>
              <a:t>negedge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를 사용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+mn-ea"/>
              </a:rPr>
              <a:t>이는 셀 설계자가 일반적으로 </a:t>
            </a:r>
            <a:r>
              <a:rPr lang="en-US" altLang="ko-KR" sz="1600" dirty="0">
                <a:latin typeface="+mn-ea"/>
              </a:rPr>
              <a:t>negative edge</a:t>
            </a:r>
            <a:r>
              <a:rPr lang="ko-KR" altLang="en-US" sz="1600" dirty="0">
                <a:latin typeface="+mn-ea"/>
              </a:rPr>
              <a:t>로 리셋을 설계하기 때문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ko-KR" altLang="en-US" sz="2000" dirty="0" err="1">
                <a:latin typeface="+mn-ea"/>
              </a:rPr>
              <a:t>클록</a:t>
            </a:r>
            <a:r>
              <a:rPr lang="ko-KR" altLang="en-US" sz="2000" dirty="0">
                <a:latin typeface="+mn-ea"/>
              </a:rPr>
              <a:t> 에지 타입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 err="1">
                <a:latin typeface="+mn-ea"/>
              </a:rPr>
              <a:t>클록은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positive edge(</a:t>
            </a:r>
            <a:r>
              <a:rPr lang="en-US" altLang="ko-KR" sz="1600" dirty="0" err="1">
                <a:latin typeface="+mn-ea"/>
              </a:rPr>
              <a:t>posedge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를 사용합니다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칩 전체에서 일관되게 이 규칙을 준수해야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함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ko-KR" altLang="en-US" sz="2000" dirty="0" err="1">
                <a:latin typeface="+mn-ea"/>
              </a:rPr>
              <a:t>논블로킹</a:t>
            </a:r>
            <a:r>
              <a:rPr lang="ko-KR" altLang="en-US" sz="2000" dirty="0">
                <a:latin typeface="+mn-ea"/>
              </a:rPr>
              <a:t> 할당 사용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+mn-ea"/>
              </a:rPr>
              <a:t>순차 회로에서는 </a:t>
            </a:r>
            <a:r>
              <a:rPr lang="ko-KR" altLang="en-US" sz="1600" dirty="0" err="1">
                <a:latin typeface="+mn-ea"/>
              </a:rPr>
              <a:t>논블로킹</a:t>
            </a:r>
            <a:r>
              <a:rPr lang="ko-KR" altLang="en-US" sz="1600" dirty="0">
                <a:latin typeface="+mn-ea"/>
              </a:rPr>
              <a:t> 할당</a:t>
            </a:r>
            <a:r>
              <a:rPr lang="en-US" altLang="ko-KR" sz="1600" dirty="0">
                <a:latin typeface="+mn-ea"/>
              </a:rPr>
              <a:t>(non-blocking assignment, &lt;=)</a:t>
            </a:r>
            <a:r>
              <a:rPr lang="ko-KR" altLang="en-US" sz="1600" dirty="0">
                <a:latin typeface="+mn-ea"/>
              </a:rPr>
              <a:t>을 사용합니다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이는 </a:t>
            </a:r>
            <a:r>
              <a:rPr lang="en-US" altLang="ko-KR" sz="1600" dirty="0">
                <a:latin typeface="+mn-ea"/>
              </a:rPr>
              <a:t>begin-end </a:t>
            </a:r>
            <a:r>
              <a:rPr lang="ko-KR" altLang="en-US" sz="1600" dirty="0">
                <a:latin typeface="+mn-ea"/>
              </a:rPr>
              <a:t>블록 내의 여러 문장이 동시에 수행되도록 하기 위함</a:t>
            </a:r>
            <a:endParaRPr lang="en-CA" sz="1600" dirty="0"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B09D23-5519-BBC1-CE97-8E585DF21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424" y="4189256"/>
            <a:ext cx="3953924" cy="1987707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F3EE265D-4642-44F2-B53D-4CFEC9B6CCF0}"/>
              </a:ext>
            </a:extLst>
          </p:cNvPr>
          <p:cNvSpPr txBox="1">
            <a:spLocks/>
          </p:cNvSpPr>
          <p:nvPr/>
        </p:nvSpPr>
        <p:spPr>
          <a:xfrm>
            <a:off x="562062" y="256068"/>
            <a:ext cx="10515600" cy="620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Reset Guideline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1221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7EAD23-D3DD-0BFB-B2C9-E1EE996EBB0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70452" y="264457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US" dirty="0"/>
              <a:t>Datapath and Control Signal Reset</a:t>
            </a:r>
            <a:endParaRPr lang="en-CA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F3E6A7-C619-3C63-475A-344D03E7B2C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70452" y="1120775"/>
            <a:ext cx="10515600" cy="505618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000" dirty="0">
                <a:latin typeface="+mn-ea"/>
              </a:rPr>
              <a:t>SoC </a:t>
            </a:r>
            <a:r>
              <a:rPr lang="ko-KR" altLang="en-US" sz="2000" dirty="0">
                <a:latin typeface="+mn-ea"/>
              </a:rPr>
              <a:t>설계에서 중요한 고려사항은 데이터 경로</a:t>
            </a:r>
            <a:r>
              <a:rPr lang="en-US" altLang="ko-KR" sz="2000" dirty="0">
                <a:latin typeface="+mn-ea"/>
              </a:rPr>
              <a:t>(Datapath)</a:t>
            </a:r>
            <a:r>
              <a:rPr lang="ko-KR" altLang="en-US" sz="2000" dirty="0">
                <a:latin typeface="+mn-ea"/>
              </a:rPr>
              <a:t>와 제어 신호에 대한 리셋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+mn-ea"/>
              </a:rPr>
              <a:t>일부 전문가들은 데이터 경로 레지스터를 리셋 불가능하게 만들면 리셋 </a:t>
            </a:r>
            <a:r>
              <a:rPr lang="ko-KR" altLang="en-US" sz="1600" dirty="0" err="1">
                <a:latin typeface="+mn-ea"/>
              </a:rPr>
              <a:t>팬아웃</a:t>
            </a:r>
            <a:r>
              <a:rPr lang="en-US" altLang="ko-KR" sz="1600" dirty="0">
                <a:latin typeface="+mn-ea"/>
              </a:rPr>
              <a:t>(fan-out)</a:t>
            </a:r>
            <a:r>
              <a:rPr lang="ko-KR" altLang="en-US" sz="1600" dirty="0">
                <a:latin typeface="+mn-ea"/>
              </a:rPr>
              <a:t>을 줄이고 설계의 논리 레벨을 줄일 수 있다고 주장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+mn-ea"/>
              </a:rPr>
              <a:t>이는 혼잡하거나 큰 설계에서 도움이 될 수 있지만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일반적으로 </a:t>
            </a:r>
            <a:r>
              <a:rPr lang="en-US" altLang="ko-KR" sz="1600" dirty="0" err="1">
                <a:latin typeface="+mn-ea"/>
              </a:rPr>
              <a:t>QoR</a:t>
            </a:r>
            <a:r>
              <a:rPr lang="en-US" altLang="ko-KR" sz="1600" dirty="0">
                <a:latin typeface="+mn-ea"/>
              </a:rPr>
              <a:t>(Quality of Results)</a:t>
            </a:r>
            <a:r>
              <a:rPr lang="ko-KR" altLang="en-US" sz="1600" dirty="0">
                <a:latin typeface="+mn-ea"/>
              </a:rPr>
              <a:t>에 미치는 영향은 적음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100000"/>
              </a:lnSpc>
            </a:pPr>
            <a:endParaRPr lang="en-US" altLang="ko-KR" sz="2000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ko-KR" altLang="en-US" sz="2000" dirty="0">
                <a:latin typeface="+mn-ea"/>
              </a:rPr>
              <a:t>데이터 신호보다는 제어 신호만 </a:t>
            </a:r>
            <a:r>
              <a:rPr lang="ko-KR" altLang="en-US" sz="2000" dirty="0" err="1">
                <a:latin typeface="+mn-ea"/>
              </a:rPr>
              <a:t>리셋하는</a:t>
            </a:r>
            <a:r>
              <a:rPr lang="ko-KR" altLang="en-US" sz="2000" dirty="0">
                <a:latin typeface="+mn-ea"/>
              </a:rPr>
              <a:t> 것이 더 나은 방법일 수 있음</a:t>
            </a:r>
            <a:r>
              <a:rPr lang="en-US" altLang="ko-KR" sz="2000" dirty="0">
                <a:latin typeface="+mn-ea"/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+mn-ea"/>
              </a:rPr>
              <a:t>많은 제어 신호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예</a:t>
            </a:r>
            <a:r>
              <a:rPr lang="en-US" altLang="ko-KR" sz="1600" dirty="0">
                <a:latin typeface="+mn-ea"/>
              </a:rPr>
              <a:t>: valid </a:t>
            </a:r>
            <a:r>
              <a:rPr lang="ko-KR" altLang="en-US" sz="1600" dirty="0">
                <a:latin typeface="+mn-ea"/>
              </a:rPr>
              <a:t>신호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는 명시적으로 필요할 때만 </a:t>
            </a:r>
            <a:r>
              <a:rPr lang="en-US" altLang="ko-KR" sz="1600" dirty="0">
                <a:latin typeface="+mn-ea"/>
              </a:rPr>
              <a:t>high </a:t>
            </a:r>
            <a:r>
              <a:rPr lang="ko-KR" altLang="en-US" sz="1600" dirty="0">
                <a:latin typeface="+mn-ea"/>
              </a:rPr>
              <a:t>상태가 됨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+mn-ea"/>
              </a:rPr>
              <a:t>따라서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이러한 신호의 기본값을 비활성화 상태로 설정하고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>
                <a:latin typeface="+mn-ea"/>
              </a:rPr>
              <a:t>필요할 때만 덮어쓰는 방식이 효율적</a:t>
            </a:r>
            <a:endParaRPr lang="en-CA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19837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E2185B-0D10-CCEA-93A7-F391867A942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952" y="272846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</a:t>
            </a:r>
            <a:r>
              <a:rPr lang="ko-KR" altLang="en-US" dirty="0"/>
              <a:t> </a:t>
            </a:r>
            <a:r>
              <a:rPr lang="en-US" altLang="ko-KR" dirty="0"/>
              <a:t>and</a:t>
            </a:r>
            <a:r>
              <a:rPr lang="ko-KR" altLang="en-US" dirty="0"/>
              <a:t> </a:t>
            </a:r>
            <a:r>
              <a:rPr lang="en-US" altLang="ko-KR" dirty="0"/>
              <a:t>Solution</a:t>
            </a:r>
            <a:endParaRPr lang="en-CA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8A9FA3-785F-E940-F339-DC00C0BC5A1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8506" y="1103997"/>
            <a:ext cx="10515600" cy="505618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2000" dirty="0">
                <a:latin typeface="+mn-ea"/>
              </a:rPr>
              <a:t>타이밍 문제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>
                <a:latin typeface="+mn-ea"/>
              </a:rPr>
              <a:t>리셋과 관련된 타이밍 문제는 </a:t>
            </a:r>
            <a:r>
              <a:rPr lang="en-US" altLang="ko-KR" sz="1800" dirty="0">
                <a:latin typeface="+mn-ea"/>
              </a:rPr>
              <a:t>SoC </a:t>
            </a:r>
            <a:r>
              <a:rPr lang="ko-KR" altLang="en-US" sz="1800" dirty="0">
                <a:latin typeface="+mn-ea"/>
              </a:rPr>
              <a:t>설계에서 흔히 발생</a:t>
            </a:r>
            <a:r>
              <a:rPr lang="en-US" altLang="ko-KR" sz="1800" dirty="0">
                <a:latin typeface="+mn-ea"/>
              </a:rPr>
              <a:t> </a:t>
            </a:r>
          </a:p>
          <a:p>
            <a:pPr lvl="2">
              <a:lnSpc>
                <a:spcPct val="100000"/>
              </a:lnSpc>
            </a:pPr>
            <a:r>
              <a:rPr lang="ko-KR" altLang="en-US" sz="1400" dirty="0">
                <a:latin typeface="+mn-ea"/>
              </a:rPr>
              <a:t>특히 비동기 리셋을 사용할 때 </a:t>
            </a:r>
            <a:r>
              <a:rPr lang="en-US" altLang="ko-KR" sz="1400" dirty="0">
                <a:latin typeface="+mn-ea"/>
              </a:rPr>
              <a:t>Recovery Time</a:t>
            </a:r>
            <a:r>
              <a:rPr lang="ko-KR" altLang="en-US" sz="1400" dirty="0">
                <a:latin typeface="+mn-ea"/>
              </a:rPr>
              <a:t>과 </a:t>
            </a:r>
            <a:r>
              <a:rPr lang="en-US" altLang="ko-KR" sz="1400" dirty="0">
                <a:latin typeface="+mn-ea"/>
              </a:rPr>
              <a:t>Removal Time</a:t>
            </a:r>
            <a:r>
              <a:rPr lang="ko-KR" altLang="en-US" sz="1400" dirty="0">
                <a:latin typeface="+mn-ea"/>
              </a:rPr>
              <a:t>이라는 중요한 타이밍 매개변수가 있음</a:t>
            </a:r>
            <a:endParaRPr lang="en-US" altLang="ko-KR" sz="14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en-US" altLang="ko-KR" sz="1800" dirty="0">
                <a:latin typeface="+mn-ea"/>
              </a:rPr>
              <a:t>Recovery Time: </a:t>
            </a:r>
            <a:r>
              <a:rPr lang="ko-KR" altLang="en-US" sz="1800" dirty="0">
                <a:latin typeface="+mn-ea"/>
              </a:rPr>
              <a:t>리셋이 해제된 후 다음 활성 </a:t>
            </a:r>
            <a:r>
              <a:rPr lang="ko-KR" altLang="en-US" sz="1800" dirty="0" err="1">
                <a:latin typeface="+mn-ea"/>
              </a:rPr>
              <a:t>클록</a:t>
            </a:r>
            <a:r>
              <a:rPr lang="ko-KR" altLang="en-US" sz="1800" dirty="0">
                <a:latin typeface="+mn-ea"/>
              </a:rPr>
              <a:t> </a:t>
            </a:r>
            <a:r>
              <a:rPr lang="ko-KR" altLang="en-US" sz="1800" dirty="0" err="1">
                <a:latin typeface="+mn-ea"/>
              </a:rPr>
              <a:t>에지까지</a:t>
            </a:r>
            <a:r>
              <a:rPr lang="ko-KR" altLang="en-US" sz="1800" dirty="0">
                <a:latin typeface="+mn-ea"/>
              </a:rPr>
              <a:t> 필요한 최소 시간</a:t>
            </a:r>
          </a:p>
          <a:p>
            <a:pPr lvl="1">
              <a:lnSpc>
                <a:spcPct val="100000"/>
              </a:lnSpc>
            </a:pPr>
            <a:r>
              <a:rPr lang="en-US" altLang="ko-KR" sz="1800" dirty="0">
                <a:latin typeface="+mn-ea"/>
              </a:rPr>
              <a:t>Removal Time: </a:t>
            </a:r>
            <a:r>
              <a:rPr lang="ko-KR" altLang="en-US" sz="1800" dirty="0" err="1">
                <a:latin typeface="+mn-ea"/>
              </a:rPr>
              <a:t>클록</a:t>
            </a:r>
            <a:r>
              <a:rPr lang="ko-KR" altLang="en-US" sz="1800" dirty="0">
                <a:latin typeface="+mn-ea"/>
              </a:rPr>
              <a:t> 에지 이후에 리셋이 해제될 수 있는 최소 요구 시간</a:t>
            </a:r>
            <a:endParaRPr lang="en-US" altLang="ko-KR" sz="18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ko-KR" altLang="en-US" sz="1800" dirty="0">
                <a:latin typeface="+mn-ea"/>
              </a:rPr>
              <a:t>이러한 타이밍 요구사항을 충족하지 못하면 </a:t>
            </a:r>
            <a:r>
              <a:rPr lang="en-US" altLang="ko-KR" sz="1800" dirty="0">
                <a:latin typeface="+mn-ea"/>
              </a:rPr>
              <a:t>metastability </a:t>
            </a:r>
            <a:r>
              <a:rPr lang="ko-KR" altLang="en-US" sz="1800" dirty="0">
                <a:latin typeface="+mn-ea"/>
              </a:rPr>
              <a:t>문제가 발생할 수 있음</a:t>
            </a:r>
            <a:endParaRPr lang="en-US" altLang="ko-KR" sz="1800" dirty="0">
              <a:latin typeface="+mn-ea"/>
            </a:endParaRPr>
          </a:p>
          <a:p>
            <a:pPr lvl="1">
              <a:lnSpc>
                <a:spcPct val="100000"/>
              </a:lnSpc>
            </a:pPr>
            <a:endParaRPr lang="en-US" altLang="ko-KR" sz="2000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ko-KR" altLang="en-US" sz="2000" dirty="0">
                <a:latin typeface="+mn-ea"/>
              </a:rPr>
              <a:t>해석 문제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>
                <a:latin typeface="+mn-ea"/>
              </a:rPr>
              <a:t>신호 이름</a:t>
            </a:r>
            <a:r>
              <a:rPr lang="en-US" altLang="ko-KR" sz="1800" dirty="0">
                <a:latin typeface="+mn-ea"/>
              </a:rPr>
              <a:t>(naming convention)</a:t>
            </a:r>
            <a:r>
              <a:rPr lang="ko-KR" altLang="en-US" sz="1800" dirty="0">
                <a:latin typeface="+mn-ea"/>
              </a:rPr>
              <a:t>에 따라 리셋의 극성을 해석할 수 있음</a:t>
            </a:r>
            <a:r>
              <a:rPr lang="en-US" altLang="ko-KR" sz="1800" dirty="0">
                <a:latin typeface="+mn-ea"/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>
                <a:latin typeface="+mn-ea"/>
              </a:rPr>
              <a:t>예를 들어</a:t>
            </a:r>
            <a:r>
              <a:rPr lang="en-US" altLang="ko-KR" sz="1800" dirty="0">
                <a:latin typeface="+mn-ea"/>
              </a:rPr>
              <a:t>, '</a:t>
            </a:r>
            <a:r>
              <a:rPr lang="en-US" altLang="ko-KR" sz="1800" b="1" dirty="0">
                <a:latin typeface="+mn-ea"/>
              </a:rPr>
              <a:t>_n</a:t>
            </a:r>
            <a:r>
              <a:rPr lang="en-US" altLang="ko-KR" sz="1800" dirty="0">
                <a:latin typeface="+mn-ea"/>
              </a:rPr>
              <a:t>' </a:t>
            </a:r>
            <a:r>
              <a:rPr lang="ko-KR" altLang="en-US" sz="1800" dirty="0">
                <a:latin typeface="+mn-ea"/>
              </a:rPr>
              <a:t>접미사가 있는 이름은 </a:t>
            </a:r>
            <a:r>
              <a:rPr lang="en-US" altLang="ko-KR" sz="1800" dirty="0">
                <a:latin typeface="+mn-ea"/>
              </a:rPr>
              <a:t>active-low </a:t>
            </a:r>
            <a:r>
              <a:rPr lang="ko-KR" altLang="en-US" sz="1800" dirty="0">
                <a:latin typeface="+mn-ea"/>
              </a:rPr>
              <a:t>리셋을 나타냄</a:t>
            </a:r>
            <a:r>
              <a:rPr lang="en-US" altLang="ko-KR" sz="1800" dirty="0">
                <a:latin typeface="+mn-ea"/>
              </a:rPr>
              <a:t>. </a:t>
            </a:r>
            <a:r>
              <a:rPr lang="ko-KR" altLang="en-US" sz="1800" dirty="0">
                <a:latin typeface="+mn-ea"/>
              </a:rPr>
              <a:t>이로 인해 </a:t>
            </a:r>
            <a:r>
              <a:rPr lang="en-US" altLang="ko-KR" sz="1800" dirty="0">
                <a:latin typeface="+mn-ea"/>
              </a:rPr>
              <a:t>EDA</a:t>
            </a:r>
            <a:r>
              <a:rPr lang="ko-KR" altLang="en-US" sz="1800" dirty="0">
                <a:latin typeface="+mn-ea"/>
              </a:rPr>
              <a:t>툴이 </a:t>
            </a:r>
            <a:r>
              <a:rPr lang="en-US" altLang="ko-KR" sz="1800" dirty="0">
                <a:latin typeface="+mn-ea"/>
              </a:rPr>
              <a:t>associate clock check</a:t>
            </a:r>
            <a:r>
              <a:rPr lang="ko-KR" altLang="en-US" sz="1800" dirty="0">
                <a:latin typeface="+mn-ea"/>
              </a:rPr>
              <a:t>를 켜거나 끄는 등의 동작이 달라질 수 있음</a:t>
            </a: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1377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Synchronous and Asynchronous Reset</a:t>
            </a:r>
            <a:endParaRPr lang="en-CA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6C2DE6-963B-434C-A145-FF87BF34D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59" y="1490008"/>
            <a:ext cx="3950156" cy="41893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E70436-FD4E-45D2-9974-DBDEDC866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661" y="1490007"/>
            <a:ext cx="5167727" cy="418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45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5C10B-FE32-0C97-4059-C66A70977A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9854" y="311490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Waveform</a:t>
            </a:r>
            <a:endParaRPr lang="en-CA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0D268B-20DE-447F-CEC8-3F3021FC82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0118" y="1053663"/>
            <a:ext cx="10515600" cy="5056188"/>
          </a:xfrm>
        </p:spPr>
        <p:txBody>
          <a:bodyPr/>
          <a:lstStyle/>
          <a:p>
            <a:pPr marL="0" indent="0">
              <a:buNone/>
            </a:pPr>
            <a:endParaRPr lang="en-CA" altLang="ko-KR" dirty="0"/>
          </a:p>
          <a:p>
            <a:pPr lvl="1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651B28-1345-4146-AF45-B3D3AD187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2195512"/>
            <a:ext cx="1034415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3122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11538</TotalTime>
  <Words>1244</Words>
  <Application>Microsoft Office PowerPoint</Application>
  <PresentationFormat>Widescreen</PresentationFormat>
  <Paragraphs>178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fkGroteskNeue</vt:lpstr>
      <vt:lpstr>맑은 고딕</vt:lpstr>
      <vt:lpstr>나눔스퀘어 네오 Regular</vt:lpstr>
      <vt:lpstr>Arial</vt:lpstr>
      <vt:lpstr>Office 테마</vt:lpstr>
      <vt:lpstr>SoC101 | 2026-1 </vt:lpstr>
      <vt:lpstr>PowerPoint Presentation</vt:lpstr>
      <vt:lpstr>PowerPoint Presentation</vt:lpstr>
      <vt:lpstr>System Clock</vt:lpstr>
      <vt:lpstr>System Clock</vt:lpstr>
      <vt:lpstr>Clock 설계시 주의 사항</vt:lpstr>
      <vt:lpstr>SoC 기본 System Clock 설계 시 주의할 점</vt:lpstr>
      <vt:lpstr>LAB : Specification</vt:lpstr>
      <vt:lpstr>LAB1 : System Clock Pre-scaler</vt:lpstr>
      <vt:lpstr>LAB2 : Clock Control Unit</vt:lpstr>
      <vt:lpstr>LAB : Testbench</vt:lpstr>
      <vt:lpstr>LAB : Waveform</vt:lpstr>
      <vt:lpstr>PowerPoint Presentation</vt:lpstr>
      <vt:lpstr>Reset in SoC</vt:lpstr>
      <vt:lpstr>Asynchronous Reset</vt:lpstr>
      <vt:lpstr>PowerPoint Presentation</vt:lpstr>
      <vt:lpstr>Reset 설계 고려사항</vt:lpstr>
      <vt:lpstr>Reset Guideline</vt:lpstr>
      <vt:lpstr>PowerPoint Presentation</vt:lpstr>
      <vt:lpstr>Datapath and Control Signal Reset</vt:lpstr>
      <vt:lpstr>Problem and Solution</vt:lpstr>
      <vt:lpstr>LAB : Synchronous and Asynchronous Reset</vt:lpstr>
      <vt:lpstr>LAB : Waveform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FPGA</dc:title>
  <dc:creator>Seungan Woo</dc:creator>
  <cp:lastModifiedBy>[교원]우승안</cp:lastModifiedBy>
  <cp:revision>661</cp:revision>
  <dcterms:created xsi:type="dcterms:W3CDTF">2024-09-20T05:42:48Z</dcterms:created>
  <dcterms:modified xsi:type="dcterms:W3CDTF">2026-05-25T15:49:18Z</dcterms:modified>
</cp:coreProperties>
</file>