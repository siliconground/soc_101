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70" r:id="rId2"/>
    <p:sldId id="658" r:id="rId3"/>
    <p:sldId id="659" r:id="rId4"/>
    <p:sldId id="649" r:id="rId5"/>
    <p:sldId id="690" r:id="rId6"/>
    <p:sldId id="692" r:id="rId7"/>
    <p:sldId id="693" r:id="rId8"/>
    <p:sldId id="711" r:id="rId9"/>
    <p:sldId id="694" r:id="rId10"/>
    <p:sldId id="713" r:id="rId11"/>
    <p:sldId id="715" r:id="rId12"/>
    <p:sldId id="714" r:id="rId13"/>
    <p:sldId id="716" r:id="rId14"/>
    <p:sldId id="696" r:id="rId15"/>
    <p:sldId id="390" r:id="rId16"/>
    <p:sldId id="355" r:id="rId17"/>
    <p:sldId id="391" r:id="rId18"/>
    <p:sldId id="717" r:id="rId19"/>
    <p:sldId id="718" r:id="rId20"/>
    <p:sldId id="719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658"/>
            <p14:sldId id="659"/>
            <p14:sldId id="649"/>
            <p14:sldId id="690"/>
            <p14:sldId id="692"/>
            <p14:sldId id="693"/>
            <p14:sldId id="711"/>
            <p14:sldId id="694"/>
            <p14:sldId id="713"/>
            <p14:sldId id="715"/>
            <p14:sldId id="714"/>
            <p14:sldId id="716"/>
            <p14:sldId id="696"/>
            <p14:sldId id="390"/>
            <p14:sldId id="355"/>
            <p14:sldId id="391"/>
            <p14:sldId id="717"/>
            <p14:sldId id="718"/>
            <p14:sldId id="7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9"/>
    <a:srgbClr val="1DCAD3"/>
    <a:srgbClr val="147ED1"/>
    <a:srgbClr val="147BD1"/>
    <a:srgbClr val="93DA49"/>
    <a:srgbClr val="FFB71B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9056" autoAdjust="0"/>
  </p:normalViewPr>
  <p:slideViewPr>
    <p:cSldViewPr snapToGrid="0" showGuides="1">
      <p:cViewPr varScale="1">
        <p:scale>
          <a:sx n="114" d="100"/>
          <a:sy n="114" d="100"/>
        </p:scale>
        <p:origin x="132" y="312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56199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6575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4349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5412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5470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4575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45274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86664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2098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5788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D05C12-C9C4-4501-9C72-D2E25191FC36}" type="slidenum">
              <a:rPr lang="en-US" altLang="en-US" smtClean="0"/>
              <a:pPr>
                <a:defRPr/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38585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endParaRPr lang="en-US" altLang="ko-KR" b="0" i="0" dirty="0">
              <a:effectLst/>
              <a:latin typeface="fkGroteskNeue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D05C12-C9C4-4501-9C72-D2E25191FC36}" type="slidenum">
              <a:rPr lang="en-US" altLang="en-US" smtClean="0"/>
              <a:pPr>
                <a:defRPr/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90197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GB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D05C12-C9C4-4501-9C72-D2E25191FC36}" type="slidenum">
              <a:rPr lang="en-US" altLang="en-US" smtClean="0"/>
              <a:pPr>
                <a:defRPr/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00560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91492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11737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1C5316-03D6-4A48-ADC0-9E5838A4A632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0049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9425" y="476250"/>
            <a:ext cx="11233150" cy="654760"/>
          </a:xfrm>
        </p:spPr>
        <p:txBody>
          <a:bodyPr anchor="t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 hasCustomPrompt="1"/>
          </p:nvPr>
        </p:nvSpPr>
        <p:spPr>
          <a:xfrm>
            <a:off x="479425" y="1171111"/>
            <a:ext cx="11233150" cy="494833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charset="0"/>
              <a:buChar char="•"/>
              <a:defRPr sz="2400">
                <a:solidFill>
                  <a:schemeClr val="tx2"/>
                </a:solidFill>
              </a:defRPr>
            </a:lvl1pPr>
            <a:lvl2pPr marL="672783">
              <a:lnSpc>
                <a:spcPct val="100000"/>
              </a:lnSpc>
              <a:spcAft>
                <a:spcPts val="0"/>
              </a:spcAft>
              <a:defRPr sz="2000">
                <a:solidFill>
                  <a:schemeClr val="tx2"/>
                </a:solidFill>
              </a:defRPr>
            </a:lvl2pPr>
            <a:lvl3pPr marL="9471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3pPr>
            <a:lvl4pPr marL="1293178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4pPr>
            <a:lvl5pPr marL="1518603">
              <a:lnSpc>
                <a:spcPct val="100000"/>
              </a:lnSpc>
              <a:spcAft>
                <a:spcPts val="0"/>
              </a:spcAft>
              <a:defRPr sz="1800"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noProof="0" dirty="0"/>
              <a:t>Click to edit Master text styles with Top Level Bullet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680683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601D2-EC58-C9D9-66C5-E3C750788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Autofit/>
          </a:bodyPr>
          <a:lstStyle>
            <a:lvl1pPr>
              <a:defRPr sz="3600" b="1"/>
            </a:lvl1pPr>
          </a:lstStyle>
          <a:p>
            <a:r>
              <a:rPr lang="ko-KR" altLang="en-US" dirty="0"/>
              <a:t>마스터 제목 스타일 편집</a:t>
            </a:r>
            <a:endParaRPr lang="en-CA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5F62F2-10CB-21B8-E968-6E1F717F3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0588"/>
            <a:ext cx="10515600" cy="5056375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CA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975F2A-690B-8E35-55A5-09EC8C98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1FD73-F43C-4CEC-A4BC-4F63297EBA95}" type="datetimeFigureOut">
              <a:rPr lang="en-CA" smtClean="0"/>
              <a:t>2026-06-08</a:t>
            </a:fld>
            <a:endParaRPr lang="en-CA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20777A-56DA-4165-A342-6D195714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3C9D3-AB74-5CC7-9BFB-48CE3DFE4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013B5-75D4-45EF-8263-FECEAD7B518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89227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  <p:sldLayoutId id="2147483674" r:id="rId13"/>
    <p:sldLayoutId id="2147483675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442446"/>
          </a:xfrm>
        </p:spPr>
        <p:txBody>
          <a:bodyPr/>
          <a:lstStyle/>
          <a:p>
            <a:r>
              <a:rPr lang="en-US" altLang="ko-KR" sz="2400">
                <a:latin typeface="Arial" panose="020B0604020202020204" pitchFamily="34" charset="0"/>
                <a:cs typeface="Arial" panose="020B0604020202020204" pitchFamily="34" charset="0"/>
              </a:rPr>
              <a:t>SoC101</a:t>
            </a:r>
            <a:br>
              <a:rPr lang="en-US" altLang="ko-KR" dirty="0">
                <a:latin typeface="+mj-lt"/>
              </a:rPr>
            </a:br>
            <a:endParaRPr lang="ko-KR" altLang="en-US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5159080"/>
            <a:ext cx="7689344" cy="438950"/>
          </a:xfrm>
        </p:spPr>
        <p:txBody>
          <a:bodyPr/>
          <a:lstStyle/>
          <a:p>
            <a:r>
              <a:rPr lang="en-US" altLang="ko-KR" dirty="0"/>
              <a:t>Session9 : General Purpose Input / Output(GPIO)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D66995-EC8F-4241-838D-FB8A84AF17A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73363-4663-4A83-B5B9-7302893C9A0F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E3330-E42F-45C6-9FDA-74753CBBADAF}"/>
              </a:ext>
            </a:extLst>
          </p:cNvPr>
          <p:cNvSpPr txBox="1"/>
          <p:nvPr/>
        </p:nvSpPr>
        <p:spPr>
          <a:xfrm>
            <a:off x="570451" y="1325461"/>
            <a:ext cx="8296712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Structure of GPIO Circuit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Logic Level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CMOS Transistors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Push-Pull Output(Digital)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Open-Collector/Open-Drain Output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Tri-State Output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Understanding GPIO in SoC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Component of GPIO in SoC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GPIO Control Structure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GPIO Register Map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chemeClr val="bg1"/>
                </a:solidFill>
              </a:rPr>
              <a:t>LABS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155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1. Structure of GPIO</a:t>
            </a:r>
          </a:p>
        </p:txBody>
      </p:sp>
    </p:spTree>
    <p:extLst>
      <p:ext uri="{BB962C8B-B14F-4D97-AF65-F5344CB8AC3E}">
        <p14:creationId xmlns:p14="http://schemas.microsoft.com/office/powerpoint/2010/main" val="3788496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4491E-7D98-A5A2-F889-3F2C1DE2C46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9843" y="251077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altLang="ko-KR" sz="4400" dirty="0"/>
              <a:t>GPIO Component in SoC</a:t>
            </a:r>
            <a:endParaRPr lang="ko-KR" altLang="en-US" sz="4400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478972A-7825-512D-AAA9-747B86E5288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29843" y="1197546"/>
            <a:ext cx="10515600" cy="5056188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Logic Level, CMOS Transistors </a:t>
            </a:r>
          </a:p>
          <a:p>
            <a:r>
              <a:rPr lang="en-US" altLang="ko-KR" sz="2000" dirty="0"/>
              <a:t>Push–Pull Output (Digital)</a:t>
            </a:r>
          </a:p>
          <a:p>
            <a:r>
              <a:rPr lang="en-US" altLang="ko-KR" sz="2000" dirty="0"/>
              <a:t>Open-collector/Open-drain Output</a:t>
            </a:r>
          </a:p>
          <a:p>
            <a:r>
              <a:rPr lang="en-US" altLang="ko-KR" sz="2000" dirty="0"/>
              <a:t>Tri-state Output</a:t>
            </a:r>
            <a:endParaRPr lang="en-CA" altLang="ko-KR" sz="20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0DAC2D5A-B936-B1BC-F8BB-82CAF17A9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641407"/>
              </p:ext>
            </p:extLst>
          </p:nvPr>
        </p:nvGraphicFramePr>
        <p:xfrm>
          <a:off x="838200" y="3725641"/>
          <a:ext cx="10515600" cy="2585792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552575">
                  <a:extLst>
                    <a:ext uri="{9D8B030D-6E8A-4147-A177-3AD203B41FA5}">
                      <a16:colId xmlns:a16="http://schemas.microsoft.com/office/drawing/2014/main" val="2326358837"/>
                    </a:ext>
                  </a:extLst>
                </a:gridCol>
                <a:gridCol w="5258772">
                  <a:extLst>
                    <a:ext uri="{9D8B030D-6E8A-4147-A177-3AD203B41FA5}">
                      <a16:colId xmlns:a16="http://schemas.microsoft.com/office/drawing/2014/main" val="59601907"/>
                    </a:ext>
                  </a:extLst>
                </a:gridCol>
                <a:gridCol w="3704253">
                  <a:extLst>
                    <a:ext uri="{9D8B030D-6E8A-4147-A177-3AD203B41FA5}">
                      <a16:colId xmlns:a16="http://schemas.microsoft.com/office/drawing/2014/main" val="3916020188"/>
                    </a:ext>
                  </a:extLst>
                </a:gridCol>
              </a:tblGrid>
              <a:tr h="262055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>
                          <a:effectLst/>
                          <a:latin typeface="+mn-ea"/>
                          <a:ea typeface="+mn-ea"/>
                        </a:rPr>
                        <a:t>출력 유형</a:t>
                      </a:r>
                    </a:p>
                  </a:txBody>
                  <a:tcPr marL="66944" marR="66944" marT="33472" marB="33472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 dirty="0">
                          <a:effectLst/>
                          <a:latin typeface="+mn-ea"/>
                          <a:ea typeface="+mn-ea"/>
                        </a:rPr>
                        <a:t>주요 특징</a:t>
                      </a:r>
                    </a:p>
                  </a:txBody>
                  <a:tcPr marL="66944" marR="66944" marT="33472" marB="33472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 dirty="0">
                          <a:effectLst/>
                          <a:latin typeface="+mn-ea"/>
                          <a:ea typeface="+mn-ea"/>
                        </a:rPr>
                        <a:t>용도</a:t>
                      </a:r>
                    </a:p>
                  </a:txBody>
                  <a:tcPr marL="66944" marR="66944" marT="33472" marB="33472"/>
                </a:tc>
                <a:extLst>
                  <a:ext uri="{0D108BD9-81ED-4DB2-BD59-A6C34878D82A}">
                    <a16:rowId xmlns:a16="http://schemas.microsoft.com/office/drawing/2014/main" val="1933989305"/>
                  </a:ext>
                </a:extLst>
              </a:tr>
              <a:tr h="367296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sz="1800" dirty="0">
                          <a:effectLst/>
                          <a:latin typeface="+mn-ea"/>
                          <a:ea typeface="+mn-ea"/>
                        </a:rPr>
                        <a:t>Push-Pull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강력한 소스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싱크 능력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외부 저항 불필요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>
                          <a:effectLst/>
                          <a:latin typeface="+mn-ea"/>
                          <a:ea typeface="+mn-ea"/>
                        </a:rPr>
                        <a:t>일반 디지털 신호</a:t>
                      </a:r>
                      <a:r>
                        <a:rPr lang="en-US" altLang="ko-KR" sz="1800">
                          <a:effectLst/>
                          <a:latin typeface="+mn-ea"/>
                          <a:ea typeface="+mn-ea"/>
                        </a:rPr>
                        <a:t>, LED </a:t>
                      </a:r>
                      <a:r>
                        <a:rPr lang="ko-KR" altLang="en-US" sz="1800">
                          <a:effectLst/>
                          <a:latin typeface="+mn-ea"/>
                          <a:ea typeface="+mn-ea"/>
                        </a:rPr>
                        <a:t>드라이브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4284636128"/>
                  </a:ext>
                </a:extLst>
              </a:tr>
              <a:tr h="529314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sz="1800" dirty="0">
                          <a:effectLst/>
                          <a:latin typeface="+mn-ea"/>
                          <a:ea typeface="+mn-ea"/>
                        </a:rPr>
                        <a:t>Open-Drain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dirty="0" err="1">
                          <a:effectLst/>
                          <a:latin typeface="+mn-ea"/>
                          <a:ea typeface="+mn-ea"/>
                        </a:rPr>
                        <a:t>플로팅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 상태에서 </a:t>
                      </a:r>
                      <a:r>
                        <a:rPr lang="ko-KR" altLang="en-US" sz="1800" dirty="0" err="1">
                          <a:effectLst/>
                          <a:latin typeface="+mn-ea"/>
                          <a:ea typeface="+mn-ea"/>
                        </a:rPr>
                        <a:t>풀업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 저항 필요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다중 장치 연결 가능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I2C,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인터럽트 라인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1258366641"/>
                  </a:ext>
                </a:extLst>
              </a:tr>
              <a:tr h="445739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sz="1800" dirty="0">
                          <a:effectLst/>
                          <a:latin typeface="+mn-ea"/>
                          <a:ea typeface="+mn-ea"/>
                        </a:rPr>
                        <a:t>Tri-State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Hi-Z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상태 지원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여러 장치가 동일 버스를 공유 가능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데이터 버스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메모리 인터페이스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2025662088"/>
                  </a:ext>
                </a:extLst>
              </a:tr>
              <a:tr h="433946">
                <a:tc>
                  <a:txBody>
                    <a:bodyPr/>
                    <a:lstStyle/>
                    <a:p>
                      <a:pPr fontAlgn="base" latinLnBrk="0"/>
                      <a:r>
                        <a:rPr lang="en-CA" sz="1800" dirty="0">
                          <a:effectLst/>
                          <a:latin typeface="+mn-ea"/>
                          <a:ea typeface="+mn-ea"/>
                        </a:rPr>
                        <a:t>CMOS Transistors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낮은 전력 소비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높은 입력 임피던스</a:t>
                      </a:r>
                    </a:p>
                  </a:txBody>
                  <a:tcPr marL="66944" marR="66944" marT="33472" marB="33472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모든 현대적 </a:t>
                      </a:r>
                      <a:r>
                        <a:rPr lang="en-CA" sz="1800" dirty="0">
                          <a:effectLst/>
                          <a:latin typeface="+mn-ea"/>
                          <a:ea typeface="+mn-ea"/>
                        </a:rPr>
                        <a:t>GPIO</a:t>
                      </a:r>
                    </a:p>
                  </a:txBody>
                  <a:tcPr marL="66944" marR="66944" marT="33472" marB="33472" anchor="ctr"/>
                </a:tc>
                <a:extLst>
                  <a:ext uri="{0D108BD9-81ED-4DB2-BD59-A6C34878D82A}">
                    <a16:rowId xmlns:a16="http://schemas.microsoft.com/office/drawing/2014/main" val="100471658"/>
                  </a:ext>
                </a:extLst>
              </a:tr>
            </a:tbl>
          </a:graphicData>
        </a:graphic>
      </p:graphicFrame>
      <p:pic>
        <p:nvPicPr>
          <p:cNvPr id="4" name="Picture 2" descr="연재 - ST 유지 카와노 엔지니어⑨-GPIO, MCU 입출력 핵심 ...">
            <a:extLst>
              <a:ext uri="{FF2B5EF4-FFF2-40B4-BE49-F238E27FC236}">
                <a16:creationId xmlns:a16="http://schemas.microsoft.com/office/drawing/2014/main" id="{617EA920-D2E6-B0CB-1DA0-02C07E629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75" y="871790"/>
            <a:ext cx="4352128" cy="277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8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E3711-3955-9A0E-E798-56B5CB80B14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26893" y="244568"/>
            <a:ext cx="10515600" cy="620713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Digital Logic Level</a:t>
            </a:r>
            <a:endParaRPr lang="en-CA" dirty="0"/>
          </a:p>
        </p:txBody>
      </p:sp>
      <p:pic>
        <p:nvPicPr>
          <p:cNvPr id="2050" name="Picture 2" descr="Digital Logic Levels - RetroSix Wiki">
            <a:extLst>
              <a:ext uri="{FF2B5EF4-FFF2-40B4-BE49-F238E27FC236}">
                <a16:creationId xmlns:a16="http://schemas.microsoft.com/office/drawing/2014/main" id="{375208D1-919F-F8EB-747F-9A79546FC179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5512" y="3159191"/>
            <a:ext cx="4887912" cy="351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696622-F5DD-81C2-DAB9-2E17EB1B6C0A}"/>
              </a:ext>
            </a:extLst>
          </p:cNvPr>
          <p:cNvSpPr txBox="1"/>
          <p:nvPr/>
        </p:nvSpPr>
        <p:spPr>
          <a:xfrm>
            <a:off x="638175" y="958589"/>
            <a:ext cx="545782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n-ea"/>
              </a:rPr>
              <a:t>Logic Level</a:t>
            </a:r>
            <a:r>
              <a:rPr lang="en-US" altLang="ko-KR" sz="2000" dirty="0">
                <a:latin typeface="+mn-ea"/>
              </a:rPr>
              <a:t> : </a:t>
            </a:r>
            <a:r>
              <a:rPr lang="ko-KR" altLang="en-US" sz="2000" dirty="0">
                <a:latin typeface="+mn-ea"/>
              </a:rPr>
              <a:t>디지털 회로에서 신호의 전압 상태를 나타내며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일반적으로 </a:t>
            </a:r>
            <a:r>
              <a:rPr lang="en-US" altLang="ko-KR" sz="2000" dirty="0">
                <a:latin typeface="+mn-ea"/>
              </a:rPr>
              <a:t>0 </a:t>
            </a:r>
            <a:r>
              <a:rPr lang="ko-KR" altLang="en-US" sz="2000" dirty="0">
                <a:latin typeface="+mn-ea"/>
              </a:rPr>
              <a:t>또는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로 표현</a:t>
            </a:r>
            <a:endParaRPr lang="en-US" altLang="ko-KR" sz="2000" dirty="0">
              <a:latin typeface="+mn-ea"/>
            </a:endParaRPr>
          </a:p>
          <a:p>
            <a:endParaRPr lang="en-US" altLang="ko-KR" sz="20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n-ea"/>
              </a:rPr>
              <a:t>Positive Logic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낮은 전압</a:t>
            </a:r>
            <a:r>
              <a:rPr lang="en-US" altLang="ko-KR" sz="2000" dirty="0">
                <a:latin typeface="+mn-ea"/>
              </a:rPr>
              <a:t>(0V)</a:t>
            </a:r>
            <a:r>
              <a:rPr lang="ko-KR" altLang="en-US" sz="2000" dirty="0">
                <a:latin typeface="+mn-ea"/>
              </a:rPr>
              <a:t>은 논리 </a:t>
            </a:r>
            <a:r>
              <a:rPr lang="en-US" altLang="ko-KR" sz="2000" dirty="0">
                <a:latin typeface="+mn-ea"/>
              </a:rPr>
              <a:t>0, </a:t>
            </a:r>
            <a:r>
              <a:rPr lang="ko-KR" altLang="en-US" sz="2000" dirty="0">
                <a:latin typeface="+mn-ea"/>
              </a:rPr>
              <a:t>높은 전압</a:t>
            </a:r>
            <a:r>
              <a:rPr lang="en-US" altLang="ko-KR" sz="2000" dirty="0">
                <a:latin typeface="+mn-ea"/>
              </a:rPr>
              <a:t>(</a:t>
            </a:r>
            <a:r>
              <a:rPr lang="ko-KR" altLang="en-US" sz="2000" dirty="0">
                <a:latin typeface="+mn-ea"/>
              </a:rPr>
              <a:t>예</a:t>
            </a:r>
            <a:r>
              <a:rPr lang="en-US" altLang="ko-KR" sz="2000" dirty="0">
                <a:latin typeface="+mn-ea"/>
              </a:rPr>
              <a:t>: 5V)</a:t>
            </a:r>
            <a:r>
              <a:rPr lang="ko-KR" altLang="en-US" sz="2000" dirty="0">
                <a:latin typeface="+mn-ea"/>
              </a:rPr>
              <a:t>은 논리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을 나타냄</a:t>
            </a:r>
            <a:endParaRPr lang="en-US" altLang="ko-KR" sz="20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n-ea"/>
              </a:rPr>
              <a:t>TTL (Transistor-Transistor Logic)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일반적으로 </a:t>
            </a:r>
            <a:r>
              <a:rPr lang="en-US" altLang="ko-KR" sz="2000" dirty="0">
                <a:latin typeface="+mn-ea"/>
              </a:rPr>
              <a:t>0~0.8V</a:t>
            </a:r>
            <a:r>
              <a:rPr lang="ko-KR" altLang="en-US" sz="2000" dirty="0">
                <a:latin typeface="+mn-ea"/>
              </a:rPr>
              <a:t>는 논리 </a:t>
            </a:r>
            <a:r>
              <a:rPr lang="en-US" altLang="ko-KR" sz="2000" dirty="0">
                <a:latin typeface="+mn-ea"/>
              </a:rPr>
              <a:t>0, 2~5V</a:t>
            </a:r>
            <a:r>
              <a:rPr lang="ko-KR" altLang="en-US" sz="2000" dirty="0">
                <a:latin typeface="+mn-ea"/>
              </a:rPr>
              <a:t>는 논리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을 나타냄</a:t>
            </a:r>
            <a:endParaRPr lang="en-US" altLang="ko-KR" sz="20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>
              <a:latin typeface="+mn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b="1" dirty="0">
                <a:latin typeface="+mn-ea"/>
              </a:rPr>
              <a:t>CMOS Logic</a:t>
            </a: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b="1" u="sng" dirty="0">
                <a:latin typeface="+mn-ea"/>
              </a:rPr>
              <a:t>공급 전압</a:t>
            </a:r>
            <a:r>
              <a:rPr lang="en-US" altLang="ko-KR" sz="2000" b="1" u="sng" dirty="0">
                <a:latin typeface="+mn-ea"/>
              </a:rPr>
              <a:t>(VDD)</a:t>
            </a:r>
            <a:r>
              <a:rPr lang="ko-KR" altLang="en-US" sz="2000" b="1" u="sng" dirty="0">
                <a:latin typeface="+mn-ea"/>
              </a:rPr>
              <a:t>의 비율</a:t>
            </a:r>
            <a:r>
              <a:rPr lang="ko-KR" altLang="en-US" sz="2000" dirty="0">
                <a:latin typeface="+mn-ea"/>
              </a:rPr>
              <a:t>로 논리 수준을 정의하며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낮은 전압은 논리 </a:t>
            </a:r>
            <a:r>
              <a:rPr lang="en-US" altLang="ko-KR" sz="2000" dirty="0">
                <a:latin typeface="+mn-ea"/>
              </a:rPr>
              <a:t>0, </a:t>
            </a:r>
            <a:r>
              <a:rPr lang="ko-KR" altLang="en-US" sz="2000" dirty="0">
                <a:latin typeface="+mn-ea"/>
              </a:rPr>
              <a:t>높은 전압은 논리 </a:t>
            </a:r>
            <a:r>
              <a:rPr lang="en-US" altLang="ko-KR" sz="2000" dirty="0">
                <a:latin typeface="+mn-ea"/>
              </a:rPr>
              <a:t>1</a:t>
            </a:r>
            <a:r>
              <a:rPr lang="ko-KR" altLang="en-US" sz="2000" dirty="0">
                <a:latin typeface="+mn-ea"/>
              </a:rPr>
              <a:t>을 나타냄</a:t>
            </a:r>
            <a:endParaRPr lang="en-CA" sz="2000" dirty="0">
              <a:latin typeface="+mn-ea"/>
            </a:endParaRPr>
          </a:p>
        </p:txBody>
      </p:sp>
      <p:pic>
        <p:nvPicPr>
          <p:cNvPr id="3" name="Picture 2" descr="Digital Logic Gate Tutorial - Basic Logic Gates">
            <a:extLst>
              <a:ext uri="{FF2B5EF4-FFF2-40B4-BE49-F238E27FC236}">
                <a16:creationId xmlns:a16="http://schemas.microsoft.com/office/drawing/2014/main" id="{E7C51E56-4F06-39DB-E881-9B793FB95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772" y="865281"/>
            <a:ext cx="4791392" cy="1930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63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FD0D3-7BAA-7B84-AFB7-1B0EDBDDC3F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9115" y="230901"/>
            <a:ext cx="10515600" cy="620713"/>
          </a:xfrm>
        </p:spPr>
        <p:txBody>
          <a:bodyPr/>
          <a:lstStyle/>
          <a:p>
            <a:r>
              <a:rPr lang="en-US" sz="3200" dirty="0"/>
              <a:t>CMOS</a:t>
            </a:r>
            <a:r>
              <a:rPr lang="ko-KR" altLang="en-US" sz="3200" dirty="0"/>
              <a:t> </a:t>
            </a:r>
            <a:r>
              <a:rPr lang="en-US" altLang="ko-KR" sz="3200" dirty="0"/>
              <a:t>Transistor</a:t>
            </a:r>
            <a:endParaRPr lang="en-CA" sz="3200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7AE6114-03FD-4C12-E5A7-9DA0AA91D17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57212064"/>
              </p:ext>
            </p:extLst>
          </p:nvPr>
        </p:nvGraphicFramePr>
        <p:xfrm>
          <a:off x="444616" y="851614"/>
          <a:ext cx="11001373" cy="552894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724025">
                  <a:extLst>
                    <a:ext uri="{9D8B030D-6E8A-4147-A177-3AD203B41FA5}">
                      <a16:colId xmlns:a16="http://schemas.microsoft.com/office/drawing/2014/main" val="3441435408"/>
                    </a:ext>
                  </a:extLst>
                </a:gridCol>
                <a:gridCol w="9277348">
                  <a:extLst>
                    <a:ext uri="{9D8B030D-6E8A-4147-A177-3AD203B41FA5}">
                      <a16:colId xmlns:a16="http://schemas.microsoft.com/office/drawing/2014/main" val="3278234378"/>
                    </a:ext>
                  </a:extLst>
                </a:gridCol>
              </a:tblGrid>
              <a:tr h="127825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 dirty="0">
                          <a:effectLst/>
                        </a:rPr>
                        <a:t>항목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 dirty="0">
                          <a:effectLst/>
                        </a:rPr>
                        <a:t>설명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/>
                </a:tc>
                <a:extLst>
                  <a:ext uri="{0D108BD9-81ED-4DB2-BD59-A6C34878D82A}">
                    <a16:rowId xmlns:a16="http://schemas.microsoft.com/office/drawing/2014/main" val="2301531762"/>
                  </a:ext>
                </a:extLst>
              </a:tr>
              <a:tr h="35901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b="1" dirty="0">
                          <a:effectLst/>
                        </a:rPr>
                        <a:t>CMOS </a:t>
                      </a:r>
                      <a:r>
                        <a:rPr lang="ko-KR" altLang="en-US" sz="1600" b="1" dirty="0">
                          <a:effectLst/>
                        </a:rPr>
                        <a:t>기술 정의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CMOS</a:t>
                      </a:r>
                      <a:r>
                        <a:rPr lang="ko-KR" altLang="en-US" sz="1600" dirty="0">
                          <a:effectLst/>
                        </a:rPr>
                        <a:t>는 </a:t>
                      </a:r>
                      <a:r>
                        <a:rPr lang="en-US" altLang="ko-KR" sz="1600" dirty="0">
                          <a:effectLst/>
                        </a:rPr>
                        <a:t>NMOS</a:t>
                      </a:r>
                      <a:r>
                        <a:rPr lang="ko-KR" altLang="en-US" sz="1600" dirty="0">
                          <a:effectLst/>
                        </a:rPr>
                        <a:t>와 </a:t>
                      </a:r>
                      <a:r>
                        <a:rPr lang="en-US" altLang="ko-KR" sz="1600" dirty="0">
                          <a:effectLst/>
                        </a:rPr>
                        <a:t>PMOS </a:t>
                      </a:r>
                      <a:r>
                        <a:rPr lang="ko-KR" altLang="en-US" sz="1600" dirty="0">
                          <a:effectLst/>
                        </a:rPr>
                        <a:t>트랜지스터를 상보적으로 결합하여 전력 소비를 줄이고 높은 성능을 제공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76841112"/>
                  </a:ext>
                </a:extLst>
              </a:tr>
              <a:tr h="24342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>
                          <a:effectLst/>
                        </a:rPr>
                        <a:t>구조</a:t>
                      </a:r>
                      <a:endParaRPr lang="ko-KR" altLang="en-US" sz="1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NMOS: </a:t>
                      </a:r>
                      <a:r>
                        <a:rPr lang="en-US" altLang="ko-KR" sz="1600" dirty="0" err="1">
                          <a:effectLst/>
                        </a:rPr>
                        <a:t>Vdd</a:t>
                      </a:r>
                      <a:r>
                        <a:rPr lang="ko-KR" altLang="en-US" sz="1600" dirty="0">
                          <a:effectLst/>
                        </a:rPr>
                        <a:t>에서 </a:t>
                      </a:r>
                      <a:r>
                        <a:rPr lang="en-US" altLang="ko-KR" sz="1600" dirty="0">
                          <a:effectLst/>
                        </a:rPr>
                        <a:t>GND</a:t>
                      </a:r>
                      <a:r>
                        <a:rPr lang="ko-KR" altLang="en-US" sz="1600" dirty="0">
                          <a:effectLst/>
                        </a:rPr>
                        <a:t>로 전류를 흐르게 함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PMOS: GND</a:t>
                      </a:r>
                      <a:r>
                        <a:rPr lang="ko-KR" altLang="en-US" sz="1600" dirty="0">
                          <a:effectLst/>
                        </a:rPr>
                        <a:t>에서 </a:t>
                      </a:r>
                      <a:r>
                        <a:rPr lang="en-US" altLang="ko-KR" sz="1600" dirty="0" err="1">
                          <a:effectLst/>
                        </a:rPr>
                        <a:t>Vdd</a:t>
                      </a:r>
                      <a:r>
                        <a:rPr lang="ko-KR" altLang="en-US" sz="1600" dirty="0">
                          <a:effectLst/>
                        </a:rPr>
                        <a:t>로 전류를 흐르게 함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1542554561"/>
                  </a:ext>
                </a:extLst>
              </a:tr>
              <a:tr h="35901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>
                          <a:effectLst/>
                        </a:rPr>
                        <a:t>특징</a:t>
                      </a:r>
                      <a:endParaRPr lang="ko-KR" altLang="en-US" sz="1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낮은 정적 전력 소비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높은 노이즈 면역성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스위칭 시에만 전력 소비 발생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589373421"/>
                  </a:ext>
                </a:extLst>
              </a:tr>
              <a:tr h="35901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>
                          <a:effectLst/>
                        </a:rPr>
                        <a:t>장점</a:t>
                      </a:r>
                      <a:endParaRPr lang="ko-KR" altLang="en-US" sz="1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전력 효율성</a:t>
                      </a:r>
                      <a:r>
                        <a:rPr lang="en-US" altLang="ko-KR" sz="1600" dirty="0">
                          <a:effectLst/>
                        </a:rPr>
                        <a:t>: </a:t>
                      </a:r>
                      <a:r>
                        <a:rPr lang="ko-KR" altLang="en-US" sz="1600" dirty="0">
                          <a:effectLst/>
                        </a:rPr>
                        <a:t>정적 상태에서 거의 전력이 소모되지 않음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열 발생 감소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고밀도 집적 가능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976797285"/>
                  </a:ext>
                </a:extLst>
              </a:tr>
              <a:tr h="26904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>
                          <a:effectLst/>
                        </a:rPr>
                        <a:t>단점</a:t>
                      </a:r>
                      <a:endParaRPr lang="ko-KR" altLang="en-US" sz="1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고주파에서 스위칭 시 순간적인 전력 소비 증가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누설 전류 문제</a:t>
                      </a:r>
                      <a:r>
                        <a:rPr lang="en-US" altLang="ko-KR" sz="1600" dirty="0">
                          <a:effectLst/>
                        </a:rPr>
                        <a:t>(</a:t>
                      </a:r>
                      <a:r>
                        <a:rPr lang="ko-KR" altLang="en-US" sz="1600" dirty="0">
                          <a:effectLst/>
                        </a:rPr>
                        <a:t>소형화에 따라 증가</a:t>
                      </a:r>
                      <a:r>
                        <a:rPr lang="en-US" altLang="ko-KR" sz="1600" dirty="0">
                          <a:effectLst/>
                        </a:rPr>
                        <a:t>)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4218454420"/>
                  </a:ext>
                </a:extLst>
              </a:tr>
              <a:tr h="35901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>
                          <a:effectLst/>
                        </a:rPr>
                        <a:t>응용 분야</a:t>
                      </a:r>
                      <a:endParaRPr lang="ko-KR" altLang="en-US" sz="1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마이크로프로세서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 err="1">
                          <a:effectLst/>
                        </a:rPr>
                        <a:t>마이크로컨트롤러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메모리 칩</a:t>
                      </a:r>
                      <a:r>
                        <a:rPr lang="en-US" altLang="ko-KR" sz="1600" dirty="0">
                          <a:effectLst/>
                        </a:rPr>
                        <a:t>, CMOS </a:t>
                      </a:r>
                      <a:r>
                        <a:rPr lang="ko-KR" altLang="en-US" sz="1600" dirty="0">
                          <a:effectLst/>
                        </a:rPr>
                        <a:t>이미지 센서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RF </a:t>
                      </a:r>
                      <a:r>
                        <a:rPr lang="ko-KR" altLang="en-US" sz="1600" dirty="0">
                          <a:effectLst/>
                        </a:rPr>
                        <a:t>회로 및 데이터 컨버터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589057257"/>
                  </a:ext>
                </a:extLst>
              </a:tr>
              <a:tr h="26904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>
                          <a:effectLst/>
                        </a:rPr>
                        <a:t>스케일링 한계</a:t>
                      </a:r>
                      <a:endParaRPr lang="ko-KR" altLang="en-US" sz="1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en-US" altLang="ko-KR" sz="1600" dirty="0" err="1">
                          <a:effectLst/>
                        </a:rPr>
                        <a:t>FinFET</a:t>
                      </a:r>
                      <a:r>
                        <a:rPr lang="en-US" altLang="ko-KR" sz="1600" dirty="0">
                          <a:effectLst/>
                        </a:rPr>
                        <a:t> </a:t>
                      </a:r>
                      <a:r>
                        <a:rPr lang="ko-KR" altLang="en-US" sz="1600" dirty="0">
                          <a:effectLst/>
                        </a:rPr>
                        <a:t>및 </a:t>
                      </a:r>
                      <a:r>
                        <a:rPr lang="ko-KR" altLang="en-US" sz="1600" dirty="0" err="1">
                          <a:effectLst/>
                        </a:rPr>
                        <a:t>나노시트</a:t>
                      </a:r>
                      <a:r>
                        <a:rPr lang="ko-KR" altLang="en-US" sz="1600" dirty="0">
                          <a:effectLst/>
                        </a:rPr>
                        <a:t> 기술 도입으로 단위 면적당 트랜지스터 성능 향상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전력 공급 전압 감소 가능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1697838135"/>
                  </a:ext>
                </a:extLst>
              </a:tr>
              <a:tr h="26904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b="1">
                          <a:effectLst/>
                        </a:rPr>
                        <a:t>CMOS 2.0 </a:t>
                      </a:r>
                      <a:r>
                        <a:rPr lang="ko-KR" altLang="en-US" sz="1600" b="1">
                          <a:effectLst/>
                        </a:rPr>
                        <a:t>혁신</a:t>
                      </a:r>
                      <a:endParaRPr lang="ko-KR" altLang="en-US" sz="1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- 3D </a:t>
                      </a:r>
                      <a:r>
                        <a:rPr lang="ko-KR" altLang="en-US" sz="1600" dirty="0">
                          <a:effectLst/>
                        </a:rPr>
                        <a:t>적층 기술을 활용한 기능 분리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고밀도 논리층과 </a:t>
                      </a:r>
                      <a:r>
                        <a:rPr lang="ko-KR" altLang="en-US" sz="1600" dirty="0" err="1">
                          <a:effectLst/>
                        </a:rPr>
                        <a:t>저전압</a:t>
                      </a:r>
                      <a:r>
                        <a:rPr lang="ko-KR" altLang="en-US" sz="1600" dirty="0">
                          <a:effectLst/>
                        </a:rPr>
                        <a:t> 트랜지스터를 조합하여 성능 최적화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431737592"/>
                  </a:ext>
                </a:extLst>
              </a:tr>
              <a:tr h="35901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누설 전류 관리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고</a:t>
                      </a:r>
                      <a:r>
                        <a:rPr lang="en-US" altLang="ko-KR" sz="1600" dirty="0">
                          <a:effectLst/>
                        </a:rPr>
                        <a:t>-κ </a:t>
                      </a:r>
                      <a:r>
                        <a:rPr lang="ko-KR" altLang="en-US" sz="1600" dirty="0">
                          <a:effectLst/>
                        </a:rPr>
                        <a:t>유전체 사용으로 게이트 누설 감소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다중 </a:t>
                      </a:r>
                      <a:r>
                        <a:rPr lang="ko-KR" altLang="en-US" sz="1600" dirty="0" err="1">
                          <a:effectLst/>
                        </a:rPr>
                        <a:t>임계값</a:t>
                      </a:r>
                      <a:r>
                        <a:rPr lang="ko-KR" altLang="en-US" sz="1600" dirty="0">
                          <a:effectLst/>
                        </a:rPr>
                        <a:t> </a:t>
                      </a:r>
                      <a:r>
                        <a:rPr lang="en-US" altLang="ko-KR" sz="1600" dirty="0">
                          <a:effectLst/>
                        </a:rPr>
                        <a:t>CMOS(MTCMOS)</a:t>
                      </a:r>
                      <a:r>
                        <a:rPr lang="ko-KR" altLang="en-US" sz="1600" dirty="0">
                          <a:effectLst/>
                        </a:rPr>
                        <a:t>로 속도와 누설 전류 균형 유지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966653803"/>
                  </a:ext>
                </a:extLst>
              </a:tr>
            </a:tbl>
          </a:graphicData>
        </a:graphic>
      </p:graphicFrame>
      <p:pic>
        <p:nvPicPr>
          <p:cNvPr id="14340" name="Picture 4" descr="CMOS 기술 : 현대적인 디지털 논리 디자인을 형성합니다">
            <a:extLst>
              <a:ext uri="{FF2B5EF4-FFF2-40B4-BE49-F238E27FC236}">
                <a16:creationId xmlns:a16="http://schemas.microsoft.com/office/drawing/2014/main" id="{0616F0DB-3C10-6C31-83CD-975C5FD4D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255" y="2042838"/>
            <a:ext cx="2628213" cy="2392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852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EF8CC1-3E60-EC52-9759-3A732A75BA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11729" y="222512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Push–Pull Output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840A02D2-7C31-1FF7-50E2-8F0B5BC499A0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956142594"/>
              </p:ext>
            </p:extLst>
          </p:nvPr>
        </p:nvGraphicFramePr>
        <p:xfrm>
          <a:off x="310393" y="1270006"/>
          <a:ext cx="8210550" cy="4569938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822904">
                  <a:extLst>
                    <a:ext uri="{9D8B030D-6E8A-4147-A177-3AD203B41FA5}">
                      <a16:colId xmlns:a16="http://schemas.microsoft.com/office/drawing/2014/main" val="2727157763"/>
                    </a:ext>
                  </a:extLst>
                </a:gridCol>
                <a:gridCol w="7387646">
                  <a:extLst>
                    <a:ext uri="{9D8B030D-6E8A-4147-A177-3AD203B41FA5}">
                      <a16:colId xmlns:a16="http://schemas.microsoft.com/office/drawing/2014/main" val="2267242921"/>
                    </a:ext>
                  </a:extLst>
                </a:gridCol>
              </a:tblGrid>
              <a:tr h="337479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 dirty="0">
                          <a:effectLst/>
                          <a:latin typeface="+mn-ea"/>
                          <a:ea typeface="+mn-ea"/>
                        </a:rPr>
                        <a:t>항목</a:t>
                      </a:r>
                    </a:p>
                  </a:txBody>
                  <a:tcPr marL="38894" marR="38894" marT="19447" marB="19447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 dirty="0"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8894" marR="38894" marT="19447" marB="19447"/>
                </a:tc>
                <a:extLst>
                  <a:ext uri="{0D108BD9-81ED-4DB2-BD59-A6C34878D82A}">
                    <a16:rowId xmlns:a16="http://schemas.microsoft.com/office/drawing/2014/main" val="3369376904"/>
                  </a:ext>
                </a:extLst>
              </a:tr>
              <a:tr h="29736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2000" b="1">
                          <a:effectLst/>
                          <a:latin typeface="+mn-ea"/>
                          <a:ea typeface="+mn-ea"/>
                        </a:rPr>
                        <a:t>구성</a:t>
                      </a:r>
                    </a:p>
                  </a:txBody>
                  <a:tcPr marL="38894" marR="38894" marT="19447" marB="1944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PMOS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와 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NMOS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트랜지스터가 상보적으로 연결된 출력 구조</a:t>
                      </a:r>
                    </a:p>
                  </a:txBody>
                  <a:tcPr marL="38894" marR="38894" marT="19447" marB="19447" anchor="ctr"/>
                </a:tc>
                <a:extLst>
                  <a:ext uri="{0D108BD9-81ED-4DB2-BD59-A6C34878D82A}">
                    <a16:rowId xmlns:a16="http://schemas.microsoft.com/office/drawing/2014/main" val="2091283380"/>
                  </a:ext>
                </a:extLst>
              </a:tr>
              <a:tr h="57185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2000" b="1">
                          <a:effectLst/>
                          <a:latin typeface="+mn-ea"/>
                          <a:ea typeface="+mn-ea"/>
                        </a:rPr>
                        <a:t>작동 방식</a:t>
                      </a:r>
                    </a:p>
                  </a:txBody>
                  <a:tcPr marL="38894" marR="38894" marT="19447" marB="1944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PMOS: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출력이 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HIGH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일 때 활성화되어 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VDD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와 연결</a:t>
                      </a:r>
                      <a:b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NMOS: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출력이 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LOW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일 때 활성화되어 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GND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와 연결</a:t>
                      </a:r>
                    </a:p>
                  </a:txBody>
                  <a:tcPr marL="38894" marR="38894" marT="19447" marB="19447" anchor="ctr"/>
                </a:tc>
                <a:extLst>
                  <a:ext uri="{0D108BD9-81ED-4DB2-BD59-A6C34878D82A}">
                    <a16:rowId xmlns:a16="http://schemas.microsoft.com/office/drawing/2014/main" val="2920830806"/>
                  </a:ext>
                </a:extLst>
              </a:tr>
              <a:tr h="104924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2000" b="1">
                          <a:effectLst/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marL="38894" marR="38894" marT="19447" marB="1944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외부 </a:t>
                      </a:r>
                      <a:r>
                        <a:rPr lang="ko-KR" altLang="en-US" sz="1800" dirty="0" err="1">
                          <a:effectLst/>
                          <a:latin typeface="+mn-ea"/>
                          <a:ea typeface="+mn-ea"/>
                        </a:rPr>
                        <a:t>풀업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800" dirty="0" err="1">
                          <a:effectLst/>
                          <a:latin typeface="+mn-ea"/>
                          <a:ea typeface="+mn-ea"/>
                        </a:rPr>
                        <a:t>풀다운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 저항 불필요</a:t>
                      </a:r>
                      <a:b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강력한 전류 소스 및 싱크 능력 제공</a:t>
                      </a:r>
                      <a:b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빠른 신호 전환 속도</a:t>
                      </a:r>
                      <a:b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낮은 출력 임피던스로 안정적인 신호 전달</a:t>
                      </a:r>
                    </a:p>
                  </a:txBody>
                  <a:tcPr marL="38894" marR="38894" marT="19447" marB="19447" anchor="ctr"/>
                </a:tc>
                <a:extLst>
                  <a:ext uri="{0D108BD9-81ED-4DB2-BD59-A6C34878D82A}">
                    <a16:rowId xmlns:a16="http://schemas.microsoft.com/office/drawing/2014/main" val="1298836968"/>
                  </a:ext>
                </a:extLst>
              </a:tr>
              <a:tr h="54084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2000" b="1">
                          <a:effectLst/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marL="38894" marR="38894" marT="19447" marB="1944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여러 출력 핀이 같은 라인을 공유할 경우 신호 충돌 발생 가능</a:t>
                      </a:r>
                      <a:b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단일 출력 핀에서만 사용 권장</a:t>
                      </a:r>
                    </a:p>
                  </a:txBody>
                  <a:tcPr marL="38894" marR="38894" marT="19447" marB="19447" anchor="ctr"/>
                </a:tc>
                <a:extLst>
                  <a:ext uri="{0D108BD9-81ED-4DB2-BD59-A6C34878D82A}">
                    <a16:rowId xmlns:a16="http://schemas.microsoft.com/office/drawing/2014/main" val="687262496"/>
                  </a:ext>
                </a:extLst>
              </a:tr>
              <a:tr h="79504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2000" b="1">
                          <a:effectLst/>
                          <a:latin typeface="+mn-ea"/>
                          <a:ea typeface="+mn-ea"/>
                        </a:rPr>
                        <a:t>적용 분야</a:t>
                      </a:r>
                    </a:p>
                  </a:txBody>
                  <a:tcPr marL="38894" marR="38894" marT="19447" marB="1944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800" dirty="0" err="1">
                          <a:effectLst/>
                          <a:latin typeface="+mn-ea"/>
                          <a:ea typeface="+mn-ea"/>
                        </a:rPr>
                        <a:t>마이크로컨트롤러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GPIO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핀</a:t>
                      </a:r>
                      <a:b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LED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드라이버</a:t>
                      </a:r>
                      <a:b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디지털 신호 전송 등</a:t>
                      </a:r>
                    </a:p>
                  </a:txBody>
                  <a:tcPr marL="38894" marR="38894" marT="19447" marB="19447" anchor="ctr"/>
                </a:tc>
                <a:extLst>
                  <a:ext uri="{0D108BD9-81ED-4DB2-BD59-A6C34878D82A}">
                    <a16:rowId xmlns:a16="http://schemas.microsoft.com/office/drawing/2014/main" val="3013118778"/>
                  </a:ext>
                </a:extLst>
              </a:tr>
              <a:tr h="508409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2000" b="1" dirty="0">
                          <a:effectLst/>
                          <a:latin typeface="+mn-ea"/>
                          <a:ea typeface="+mn-ea"/>
                        </a:rPr>
                        <a:t>특징 요약</a:t>
                      </a:r>
                    </a:p>
                  </a:txBody>
                  <a:tcPr marL="38894" marR="38894" marT="19447" marB="19447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능동적으로 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HIGH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LOW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상태를 출력하며</a:t>
                      </a:r>
                      <a:r>
                        <a:rPr lang="en-US" altLang="ko-KR" sz="1800" dirty="0">
                          <a:effectLst/>
                          <a:latin typeface="+mn-ea"/>
                          <a:ea typeface="+mn-ea"/>
                        </a:rPr>
                        <a:t>, Hi-Z </a:t>
                      </a:r>
                      <a:r>
                        <a:rPr lang="ko-KR" altLang="en-US" sz="1800" dirty="0">
                          <a:effectLst/>
                          <a:latin typeface="+mn-ea"/>
                          <a:ea typeface="+mn-ea"/>
                        </a:rPr>
                        <a:t>상태는 지원하지 않음</a:t>
                      </a:r>
                    </a:p>
                  </a:txBody>
                  <a:tcPr marL="38894" marR="38894" marT="19447" marB="19447" anchor="ctr"/>
                </a:tc>
                <a:extLst>
                  <a:ext uri="{0D108BD9-81ED-4DB2-BD59-A6C34878D82A}">
                    <a16:rowId xmlns:a16="http://schemas.microsoft.com/office/drawing/2014/main" val="692832631"/>
                  </a:ext>
                </a:extLst>
              </a:tr>
            </a:tbl>
          </a:graphicData>
        </a:graphic>
      </p:graphicFrame>
      <p:pic>
        <p:nvPicPr>
          <p:cNvPr id="11266" name="Picture 2" descr="Open Drain Output vs. Push-Pull Output - Open4Tech">
            <a:extLst>
              <a:ext uri="{FF2B5EF4-FFF2-40B4-BE49-F238E27FC236}">
                <a16:creationId xmlns:a16="http://schemas.microsoft.com/office/drawing/2014/main" id="{8A8F75E1-573F-5E15-CB46-BA4C38D8B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8726" y="2531278"/>
            <a:ext cx="3794949" cy="2315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8840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FBCBF1-1EB2-0607-E7D3-32CAF049FE8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5894" y="197345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US" altLang="ko-KR" i="0" dirty="0">
                <a:effectLst/>
                <a:latin typeface="+mj-ea"/>
              </a:rPr>
              <a:t>Open Collector </a:t>
            </a:r>
            <a:endParaRPr lang="en-CA" dirty="0">
              <a:latin typeface="+mj-ea"/>
            </a:endParaRP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E2EA1A9D-78F3-8592-39F3-3DE1F0D0D0DA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46912796"/>
              </p:ext>
            </p:extLst>
          </p:nvPr>
        </p:nvGraphicFramePr>
        <p:xfrm>
          <a:off x="504956" y="818058"/>
          <a:ext cx="10277475" cy="5559642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562101">
                  <a:extLst>
                    <a:ext uri="{9D8B030D-6E8A-4147-A177-3AD203B41FA5}">
                      <a16:colId xmlns:a16="http://schemas.microsoft.com/office/drawing/2014/main" val="2290234365"/>
                    </a:ext>
                  </a:extLst>
                </a:gridCol>
                <a:gridCol w="8715374">
                  <a:extLst>
                    <a:ext uri="{9D8B030D-6E8A-4147-A177-3AD203B41FA5}">
                      <a16:colId xmlns:a16="http://schemas.microsoft.com/office/drawing/2014/main" val="3884074704"/>
                    </a:ext>
                  </a:extLst>
                </a:gridCol>
              </a:tblGrid>
              <a:tr h="254518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800" b="1">
                          <a:effectLst/>
                        </a:rPr>
                        <a:t>항목</a:t>
                      </a:r>
                      <a:endParaRPr lang="ko-KR" altLang="en-US" sz="18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800" b="1" dirty="0">
                          <a:effectLst/>
                        </a:rPr>
                        <a:t>설명</a:t>
                      </a:r>
                      <a:endParaRPr lang="ko-KR" altLang="en-US" sz="18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/>
                </a:tc>
                <a:extLst>
                  <a:ext uri="{0D108BD9-81ED-4DB2-BD59-A6C34878D82A}">
                    <a16:rowId xmlns:a16="http://schemas.microsoft.com/office/drawing/2014/main" val="695326778"/>
                  </a:ext>
                </a:extLst>
              </a:tr>
              <a:tr h="336898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>
                          <a:effectLst/>
                        </a:rPr>
                        <a:t>정의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출력 핀이 단일 트랜지스터</a:t>
                      </a:r>
                      <a:r>
                        <a:rPr lang="en-US" altLang="ko-KR" sz="1600" dirty="0">
                          <a:effectLst/>
                        </a:rPr>
                        <a:t>(BJT </a:t>
                      </a:r>
                      <a:r>
                        <a:rPr lang="ko-KR" altLang="en-US" sz="1600" dirty="0">
                          <a:effectLst/>
                        </a:rPr>
                        <a:t>또는 </a:t>
                      </a:r>
                      <a:r>
                        <a:rPr lang="en-US" altLang="ko-KR" sz="1600" dirty="0">
                          <a:effectLst/>
                        </a:rPr>
                        <a:t>NMOS)</a:t>
                      </a:r>
                      <a:r>
                        <a:rPr lang="ko-KR" altLang="en-US" sz="1600" dirty="0">
                          <a:effectLst/>
                        </a:rPr>
                        <a:t>에 의해 </a:t>
                      </a:r>
                      <a:r>
                        <a:rPr lang="en-US" altLang="ko-KR" sz="1600" dirty="0">
                          <a:effectLst/>
                        </a:rPr>
                        <a:t>GND</a:t>
                      </a:r>
                      <a:r>
                        <a:rPr lang="ko-KR" altLang="en-US" sz="1600" dirty="0">
                          <a:effectLst/>
                        </a:rPr>
                        <a:t>로 연결될 수 있는 출력 방식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446220903"/>
                  </a:ext>
                </a:extLst>
              </a:tr>
              <a:tr h="390091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>
                          <a:effectLst/>
                        </a:rPr>
                        <a:t>구조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트랜지스터의 </a:t>
                      </a:r>
                      <a:r>
                        <a:rPr lang="ko-KR" altLang="en-US" sz="1600" dirty="0" err="1">
                          <a:effectLst/>
                        </a:rPr>
                        <a:t>컬렉터</a:t>
                      </a:r>
                      <a:r>
                        <a:rPr lang="ko-KR" altLang="en-US" sz="1600" dirty="0">
                          <a:effectLst/>
                        </a:rPr>
                        <a:t> 또는 </a:t>
                      </a:r>
                      <a:r>
                        <a:rPr lang="ko-KR" altLang="en-US" sz="1600" dirty="0" err="1">
                          <a:effectLst/>
                        </a:rPr>
                        <a:t>드레인이</a:t>
                      </a:r>
                      <a:r>
                        <a:rPr lang="ko-KR" altLang="en-US" sz="1600" dirty="0">
                          <a:effectLst/>
                        </a:rPr>
                        <a:t> 출력 핀과 연결되며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외부 </a:t>
                      </a:r>
                      <a:r>
                        <a:rPr lang="ko-KR" altLang="en-US" sz="1600" dirty="0" err="1">
                          <a:effectLst/>
                        </a:rPr>
                        <a:t>풀업</a:t>
                      </a:r>
                      <a:r>
                        <a:rPr lang="ko-KR" altLang="en-US" sz="1600" dirty="0">
                          <a:effectLst/>
                        </a:rPr>
                        <a:t> 저항을 통해 </a:t>
                      </a:r>
                      <a:r>
                        <a:rPr lang="en-US" altLang="ko-KR" sz="1600" dirty="0">
                          <a:effectLst/>
                        </a:rPr>
                        <a:t>HIGH </a:t>
                      </a:r>
                      <a:r>
                        <a:rPr lang="ko-KR" altLang="en-US" sz="1600" dirty="0">
                          <a:effectLst/>
                        </a:rPr>
                        <a:t>상태를 유지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1912037583"/>
                  </a:ext>
                </a:extLst>
              </a:tr>
              <a:tr h="49648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>
                          <a:effectLst/>
                        </a:rPr>
                        <a:t>작동 방식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LOW </a:t>
                      </a:r>
                      <a:r>
                        <a:rPr lang="ko-KR" altLang="en-US" sz="1600" dirty="0">
                          <a:effectLst/>
                        </a:rPr>
                        <a:t>출력</a:t>
                      </a:r>
                      <a:r>
                        <a:rPr lang="en-US" altLang="ko-KR" sz="1600" dirty="0">
                          <a:effectLst/>
                        </a:rPr>
                        <a:t>: </a:t>
                      </a:r>
                      <a:r>
                        <a:rPr lang="ko-KR" altLang="en-US" sz="1600" dirty="0">
                          <a:effectLst/>
                        </a:rPr>
                        <a:t>트랜지스터가 활성화되어 출력 핀이 </a:t>
                      </a:r>
                      <a:r>
                        <a:rPr lang="en-US" altLang="ko-KR" sz="1600" dirty="0">
                          <a:effectLst/>
                        </a:rPr>
                        <a:t>GND</a:t>
                      </a:r>
                      <a:r>
                        <a:rPr lang="ko-KR" altLang="en-US" sz="1600" dirty="0">
                          <a:effectLst/>
                        </a:rPr>
                        <a:t>에 연결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HIGH </a:t>
                      </a:r>
                      <a:r>
                        <a:rPr lang="ko-KR" altLang="en-US" sz="1600" dirty="0">
                          <a:effectLst/>
                        </a:rPr>
                        <a:t>출력</a:t>
                      </a:r>
                      <a:r>
                        <a:rPr lang="en-US" altLang="ko-KR" sz="1600" dirty="0">
                          <a:effectLst/>
                        </a:rPr>
                        <a:t>: </a:t>
                      </a:r>
                      <a:r>
                        <a:rPr lang="ko-KR" altLang="en-US" sz="1600" dirty="0">
                          <a:effectLst/>
                        </a:rPr>
                        <a:t>트랜지스터가 비활성화되어 외부 </a:t>
                      </a:r>
                      <a:r>
                        <a:rPr lang="ko-KR" altLang="en-US" sz="1600" dirty="0" err="1">
                          <a:effectLst/>
                        </a:rPr>
                        <a:t>풀업</a:t>
                      </a:r>
                      <a:r>
                        <a:rPr lang="ko-KR" altLang="en-US" sz="1600" dirty="0">
                          <a:effectLst/>
                        </a:rPr>
                        <a:t> 저항을 통해 </a:t>
                      </a:r>
                      <a:r>
                        <a:rPr lang="en-US" altLang="ko-KR" sz="1600" dirty="0" err="1">
                          <a:effectLst/>
                        </a:rPr>
                        <a:t>Vcc</a:t>
                      </a:r>
                      <a:r>
                        <a:rPr lang="ko-KR" altLang="en-US" sz="1600" dirty="0">
                          <a:effectLst/>
                        </a:rPr>
                        <a:t>로 유지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496342380"/>
                  </a:ext>
                </a:extLst>
              </a:tr>
              <a:tr h="64225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>
                          <a:effectLst/>
                        </a:rPr>
                        <a:t>특징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여러 장치가 동일한 라인을 공유 가능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 err="1">
                          <a:effectLst/>
                        </a:rPr>
                        <a:t>와이어드</a:t>
                      </a:r>
                      <a:r>
                        <a:rPr lang="ko-KR" altLang="en-US" sz="1600" dirty="0">
                          <a:effectLst/>
                        </a:rPr>
                        <a:t> </a:t>
                      </a:r>
                      <a:r>
                        <a:rPr lang="en-US" altLang="ko-KR" sz="1600" dirty="0">
                          <a:effectLst/>
                        </a:rPr>
                        <a:t>AND/OR </a:t>
                      </a:r>
                      <a:r>
                        <a:rPr lang="ko-KR" altLang="en-US" sz="1600" dirty="0">
                          <a:effectLst/>
                        </a:rPr>
                        <a:t>논리 구현 가능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전류 소싱 능력이 낮음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4161585377"/>
                  </a:ext>
                </a:extLst>
              </a:tr>
              <a:tr h="64225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>
                          <a:effectLst/>
                        </a:rPr>
                        <a:t>장점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다중 장치 연결에 적합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간단한 회로 구조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외부 </a:t>
                      </a:r>
                      <a:r>
                        <a:rPr lang="ko-KR" altLang="en-US" sz="1600" dirty="0" err="1">
                          <a:effectLst/>
                        </a:rPr>
                        <a:t>풀업</a:t>
                      </a:r>
                      <a:r>
                        <a:rPr lang="ko-KR" altLang="en-US" sz="1600" dirty="0">
                          <a:effectLst/>
                        </a:rPr>
                        <a:t> 저항으로 전압 레벨 조정 가능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331757098"/>
                  </a:ext>
                </a:extLst>
              </a:tr>
              <a:tr h="64225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>
                          <a:effectLst/>
                        </a:rPr>
                        <a:t>단점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외부 </a:t>
                      </a:r>
                      <a:r>
                        <a:rPr lang="ko-KR" altLang="en-US" sz="1600" dirty="0" err="1">
                          <a:effectLst/>
                        </a:rPr>
                        <a:t>풀업</a:t>
                      </a:r>
                      <a:r>
                        <a:rPr lang="ko-KR" altLang="en-US" sz="1600" dirty="0">
                          <a:effectLst/>
                        </a:rPr>
                        <a:t> 저항 필요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신호 전환 속도가 상대적으로 느림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전류 소싱 능력이 부족함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202204239"/>
                  </a:ext>
                </a:extLst>
              </a:tr>
              <a:tr h="688142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>
                          <a:effectLst/>
                        </a:rPr>
                        <a:t>응용 분야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I2C </a:t>
                      </a:r>
                      <a:r>
                        <a:rPr lang="ko-KR" altLang="en-US" sz="1600" dirty="0">
                          <a:effectLst/>
                        </a:rPr>
                        <a:t>통신</a:t>
                      </a:r>
                      <a:r>
                        <a:rPr lang="en-US" altLang="ko-KR" sz="1600" dirty="0">
                          <a:effectLst/>
                        </a:rPr>
                        <a:t>. </a:t>
                      </a:r>
                      <a:r>
                        <a:rPr lang="ko-KR" altLang="en-US" sz="1600" dirty="0">
                          <a:effectLst/>
                        </a:rPr>
                        <a:t>인터럽트 라인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멀티 드롭 버스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 err="1">
                          <a:effectLst/>
                        </a:rPr>
                        <a:t>와이어드</a:t>
                      </a:r>
                      <a:r>
                        <a:rPr lang="ko-KR" altLang="en-US" sz="1600" dirty="0">
                          <a:effectLst/>
                        </a:rPr>
                        <a:t> 논리 구현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1330307065"/>
                  </a:ext>
                </a:extLst>
              </a:tr>
              <a:tr h="43546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 err="1">
                          <a:effectLst/>
                        </a:rPr>
                        <a:t>와이어드</a:t>
                      </a:r>
                      <a:r>
                        <a:rPr lang="ko-KR" altLang="en-US" sz="1600" b="0" dirty="0">
                          <a:effectLst/>
                        </a:rPr>
                        <a:t> 논리 구현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 err="1">
                          <a:effectLst/>
                        </a:rPr>
                        <a:t>와이어드</a:t>
                      </a:r>
                      <a:r>
                        <a:rPr lang="ko-KR" altLang="en-US" sz="1600" dirty="0">
                          <a:effectLst/>
                        </a:rPr>
                        <a:t> </a:t>
                      </a:r>
                      <a:r>
                        <a:rPr lang="en-US" altLang="ko-KR" sz="1600" dirty="0">
                          <a:effectLst/>
                        </a:rPr>
                        <a:t>AND: </a:t>
                      </a:r>
                      <a:r>
                        <a:rPr lang="ko-KR" altLang="en-US" sz="1600" dirty="0">
                          <a:effectLst/>
                        </a:rPr>
                        <a:t>여러 </a:t>
                      </a:r>
                      <a:r>
                        <a:rPr lang="en-US" altLang="ko-KR" sz="1600" dirty="0">
                          <a:effectLst/>
                        </a:rPr>
                        <a:t>Open Collector </a:t>
                      </a:r>
                      <a:r>
                        <a:rPr lang="ko-KR" altLang="en-US" sz="1600" dirty="0">
                          <a:effectLst/>
                        </a:rPr>
                        <a:t>출력이 같은 라인에서 </a:t>
                      </a:r>
                      <a:r>
                        <a:rPr lang="en-US" altLang="ko-KR" sz="1600" dirty="0">
                          <a:effectLst/>
                        </a:rPr>
                        <a:t>LOW</a:t>
                      </a:r>
                      <a:r>
                        <a:rPr lang="ko-KR" altLang="en-US" sz="1600" dirty="0">
                          <a:effectLst/>
                        </a:rPr>
                        <a:t>일 때만 </a:t>
                      </a:r>
                      <a:r>
                        <a:rPr lang="en-US" altLang="ko-KR" sz="1600" dirty="0">
                          <a:effectLst/>
                        </a:rPr>
                        <a:t>LOW </a:t>
                      </a:r>
                      <a:r>
                        <a:rPr lang="ko-KR" altLang="en-US" sz="1600" dirty="0">
                          <a:effectLst/>
                        </a:rPr>
                        <a:t>상태 유지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 err="1">
                          <a:effectLst/>
                        </a:rPr>
                        <a:t>와이어드</a:t>
                      </a:r>
                      <a:r>
                        <a:rPr lang="ko-KR" altLang="en-US" sz="1600" dirty="0">
                          <a:effectLst/>
                        </a:rPr>
                        <a:t> </a:t>
                      </a:r>
                      <a:r>
                        <a:rPr lang="en-US" altLang="ko-KR" sz="1600" dirty="0">
                          <a:effectLst/>
                        </a:rPr>
                        <a:t>OR: </a:t>
                      </a:r>
                      <a:r>
                        <a:rPr lang="ko-KR" altLang="en-US" sz="1600" dirty="0">
                          <a:effectLst/>
                        </a:rPr>
                        <a:t>여러 출력 중 하나라도 </a:t>
                      </a:r>
                      <a:r>
                        <a:rPr lang="en-US" altLang="ko-KR" sz="1600" dirty="0">
                          <a:effectLst/>
                        </a:rPr>
                        <a:t>HIGH</a:t>
                      </a:r>
                      <a:r>
                        <a:rPr lang="ko-KR" altLang="en-US" sz="1600" dirty="0">
                          <a:effectLst/>
                        </a:rPr>
                        <a:t>일 때 </a:t>
                      </a:r>
                      <a:r>
                        <a:rPr lang="en-US" altLang="ko-KR" sz="1600" dirty="0">
                          <a:effectLst/>
                        </a:rPr>
                        <a:t>HIGH </a:t>
                      </a:r>
                      <a:r>
                        <a:rPr lang="ko-KR" altLang="en-US" sz="1600" dirty="0">
                          <a:effectLst/>
                        </a:rPr>
                        <a:t>상태 유지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2694405008"/>
                  </a:ext>
                </a:extLst>
              </a:tr>
              <a:tr h="352936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0" dirty="0">
                          <a:effectLst/>
                        </a:rPr>
                        <a:t>전압 레벨 조정</a:t>
                      </a:r>
                      <a:endParaRPr lang="ko-KR" altLang="en-US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</a:rPr>
                        <a:t>외부 </a:t>
                      </a:r>
                      <a:r>
                        <a:rPr lang="ko-KR" altLang="en-US" sz="1600" dirty="0" err="1">
                          <a:effectLst/>
                        </a:rPr>
                        <a:t>풀업</a:t>
                      </a:r>
                      <a:r>
                        <a:rPr lang="ko-KR" altLang="en-US" sz="1600" dirty="0">
                          <a:effectLst/>
                        </a:rPr>
                        <a:t> 저항을 통해 원하는 전압 레벨</a:t>
                      </a:r>
                      <a:r>
                        <a:rPr lang="en-US" altLang="ko-KR" sz="1600" dirty="0">
                          <a:effectLst/>
                        </a:rPr>
                        <a:t>(</a:t>
                      </a:r>
                      <a:r>
                        <a:rPr lang="en-US" altLang="ko-KR" sz="1600" dirty="0" err="1">
                          <a:effectLst/>
                        </a:rPr>
                        <a:t>Vcc</a:t>
                      </a:r>
                      <a:r>
                        <a:rPr lang="en-US" altLang="ko-KR" sz="1600" dirty="0">
                          <a:effectLst/>
                        </a:rPr>
                        <a:t>)</a:t>
                      </a:r>
                      <a:r>
                        <a:rPr lang="ko-KR" altLang="en-US" sz="1600" dirty="0">
                          <a:effectLst/>
                        </a:rPr>
                        <a:t>을 설정 가능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5797" marR="25797" marT="12898" marB="12898" anchor="ctr"/>
                </a:tc>
                <a:extLst>
                  <a:ext uri="{0D108BD9-81ED-4DB2-BD59-A6C34878D82A}">
                    <a16:rowId xmlns:a16="http://schemas.microsoft.com/office/drawing/2014/main" val="3234722471"/>
                  </a:ext>
                </a:extLst>
              </a:tr>
            </a:tbl>
          </a:graphicData>
        </a:graphic>
      </p:graphicFrame>
      <p:pic>
        <p:nvPicPr>
          <p:cNvPr id="14338" name="Picture 2">
            <a:extLst>
              <a:ext uri="{FF2B5EF4-FFF2-40B4-BE49-F238E27FC236}">
                <a16:creationId xmlns:a16="http://schemas.microsoft.com/office/drawing/2014/main" id="{013FD6DB-4C15-D1B0-C376-EE2158820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639" y="2719607"/>
            <a:ext cx="2114550" cy="234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9307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CD8346-8ADA-E50D-FCB0-E7FF5E91D5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1395" y="147011"/>
            <a:ext cx="10515600" cy="620713"/>
          </a:xfrm>
        </p:spPr>
        <p:txBody>
          <a:bodyPr>
            <a:normAutofit fontScale="90000"/>
          </a:bodyPr>
          <a:lstStyle/>
          <a:p>
            <a:r>
              <a:rPr lang="en-CA" dirty="0"/>
              <a:t>Tri-state Output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B505B65-A978-E823-0FA6-D0F746BF44A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267418430"/>
              </p:ext>
            </p:extLst>
          </p:nvPr>
        </p:nvGraphicFramePr>
        <p:xfrm>
          <a:off x="661988" y="948219"/>
          <a:ext cx="10868024" cy="5682371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971674">
                  <a:extLst>
                    <a:ext uri="{9D8B030D-6E8A-4147-A177-3AD203B41FA5}">
                      <a16:colId xmlns:a16="http://schemas.microsoft.com/office/drawing/2014/main" val="791096244"/>
                    </a:ext>
                  </a:extLst>
                </a:gridCol>
                <a:gridCol w="8896350">
                  <a:extLst>
                    <a:ext uri="{9D8B030D-6E8A-4147-A177-3AD203B41FA5}">
                      <a16:colId xmlns:a16="http://schemas.microsoft.com/office/drawing/2014/main" val="2228598205"/>
                    </a:ext>
                  </a:extLst>
                </a:gridCol>
              </a:tblGrid>
              <a:tr h="231653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 dirty="0">
                          <a:effectLst/>
                        </a:rPr>
                        <a:t>항목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2000" b="1" dirty="0">
                          <a:effectLst/>
                        </a:rPr>
                        <a:t>설명</a:t>
                      </a:r>
                      <a:endParaRPr lang="ko-KR" altLang="en-US" sz="20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/>
                </a:tc>
                <a:extLst>
                  <a:ext uri="{0D108BD9-81ED-4DB2-BD59-A6C34878D82A}">
                    <a16:rowId xmlns:a16="http://schemas.microsoft.com/office/drawing/2014/main" val="4042034349"/>
                  </a:ext>
                </a:extLst>
              </a:tr>
              <a:tr h="44282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정의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출력 핀이 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HIGH, LOW, Hi-Z(High-Impedance)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상태 중 하나를 가질 수 있는 출력 방식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4207886092"/>
                  </a:ext>
                </a:extLst>
              </a:tr>
              <a:tr h="44282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구조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추가적인 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Enable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신호를 통해 출력이 활성화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(HIGH/LOW)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되거나</a:t>
                      </a:r>
                      <a:endParaRPr lang="en-CA" altLang="ko-KR" sz="1600" dirty="0">
                        <a:effectLst/>
                        <a:latin typeface="+mn-ea"/>
                        <a:ea typeface="+mn-ea"/>
                      </a:endParaRPr>
                    </a:p>
                    <a:p>
                      <a:pPr fontAlgn="base" latinLnBrk="0"/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비활성화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(Hi-Z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상태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될 수 있음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4055712791"/>
                  </a:ext>
                </a:extLst>
              </a:tr>
              <a:tr h="44282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작동 방식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Enable = 1: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출력이 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HIGH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또는 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LOW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로 동작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Enable = 0: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출력이 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Hi-Z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상태로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플로팅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2022368181"/>
                  </a:ext>
                </a:extLst>
              </a:tr>
              <a:tr h="44282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특징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Hi-Z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상태에서는 출력 핀이 회로에서 분리되어 전류가 흐르지 않음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여러 장치가 동일한 버스를 공유 가능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284062550"/>
                  </a:ext>
                </a:extLst>
              </a:tr>
              <a:tr h="653987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장점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다중 장치 간 데이터 공유 가능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Hi-Z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상태에서 회로 간섭 없음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외부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풀업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저항 불필요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1586446995"/>
                  </a:ext>
                </a:extLst>
              </a:tr>
              <a:tr h="653987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Hi-Z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상태에서 외부 노이즈에 취약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충돌 방지를 위해 정확한 제어 필요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복잡한 제어 로직 요구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3888906596"/>
                  </a:ext>
                </a:extLst>
              </a:tr>
              <a:tr h="865154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응용 분야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데이터 버스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메모리 인터페이스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다중 장치 간 데이터 공유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FPGA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마이크로컨트롤러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설계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3128403965"/>
                  </a:ext>
                </a:extLst>
              </a:tr>
              <a:tr h="44282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en-CA" sz="1600" b="1" dirty="0">
                          <a:effectLst/>
                          <a:latin typeface="+mn-ea"/>
                          <a:ea typeface="+mn-ea"/>
                        </a:rPr>
                        <a:t>Hi-Z </a:t>
                      </a:r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상태의 역할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출력 핀을 비활성화하여 다른 장치가 동일한 라인을 사용할 수 있도록 허용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.</a:t>
                      </a:r>
                      <a:b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</a:b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전력 소모 감소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3527364311"/>
                  </a:ext>
                </a:extLst>
              </a:tr>
              <a:tr h="332735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  <a:latin typeface="+mn-ea"/>
                          <a:ea typeface="+mn-ea"/>
                        </a:rPr>
                        <a:t>전압 레벨 조정</a:t>
                      </a:r>
                    </a:p>
                  </a:txBody>
                  <a:tcPr marL="26612" marR="26612" marT="13306" marB="133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Hi-Z 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상태에서는 외부 회로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풀업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600" dirty="0" err="1">
                          <a:effectLst/>
                          <a:latin typeface="+mn-ea"/>
                          <a:ea typeface="+mn-ea"/>
                        </a:rPr>
                        <a:t>풀다운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 저항 등</a:t>
                      </a:r>
                      <a:r>
                        <a:rPr lang="en-US" altLang="ko-KR" sz="16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600" dirty="0">
                          <a:effectLst/>
                          <a:latin typeface="+mn-ea"/>
                          <a:ea typeface="+mn-ea"/>
                        </a:rPr>
                        <a:t>를 통해 출력 전압 레벨 유지 가능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6612" marR="26612" marT="13306" marB="13306" anchor="ctr"/>
                </a:tc>
                <a:extLst>
                  <a:ext uri="{0D108BD9-81ED-4DB2-BD59-A6C34878D82A}">
                    <a16:rowId xmlns:a16="http://schemas.microsoft.com/office/drawing/2014/main" val="3645521310"/>
                  </a:ext>
                </a:extLst>
              </a:tr>
            </a:tbl>
          </a:graphicData>
        </a:graphic>
      </p:graphicFrame>
      <p:pic>
        <p:nvPicPr>
          <p:cNvPr id="15364" name="Picture 4" descr="digital logic - What is the advantage of a tri-state output? - Electrical  Engineering Stack Exchange">
            <a:extLst>
              <a:ext uri="{FF2B5EF4-FFF2-40B4-BE49-F238E27FC236}">
                <a16:creationId xmlns:a16="http://schemas.microsoft.com/office/drawing/2014/main" id="{993D9512-3853-AD4F-0C65-D6C424E23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837" y="3154347"/>
            <a:ext cx="3144518" cy="2543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6796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DUT(Control IO at Tri-state buffer)</a:t>
            </a:r>
            <a:endParaRPr lang="en-CA" sz="3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3043B6-C5AB-4D28-AC04-8354F6664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1557338"/>
            <a:ext cx="4624082" cy="2969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9961F5-B876-4605-992C-79C6695C2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1557338"/>
            <a:ext cx="592455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45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Test Bench(Control IO at Tri-state buffer)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4DE6F9-A79E-4169-AC30-403803A82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45883"/>
            <a:ext cx="4020583" cy="4566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500099-3FF4-469A-A5CF-755B8E1CA7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652" y="1145883"/>
            <a:ext cx="4069072" cy="4566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3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LAB1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Waveform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B5159-151F-4BD1-9D41-833EDEC32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" y="1057275"/>
            <a:ext cx="10334625" cy="2371725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6E687CC-0DBF-4953-8367-6FE39F2662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5148"/>
              </p:ext>
            </p:extLst>
          </p:nvPr>
        </p:nvGraphicFramePr>
        <p:xfrm>
          <a:off x="1513347" y="3938151"/>
          <a:ext cx="9165304" cy="2171700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145663">
                  <a:extLst>
                    <a:ext uri="{9D8B030D-6E8A-4147-A177-3AD203B41FA5}">
                      <a16:colId xmlns:a16="http://schemas.microsoft.com/office/drawing/2014/main" val="3139364538"/>
                    </a:ext>
                  </a:extLst>
                </a:gridCol>
                <a:gridCol w="755814">
                  <a:extLst>
                    <a:ext uri="{9D8B030D-6E8A-4147-A177-3AD203B41FA5}">
                      <a16:colId xmlns:a16="http://schemas.microsoft.com/office/drawing/2014/main" val="2917567797"/>
                    </a:ext>
                  </a:extLst>
                </a:gridCol>
                <a:gridCol w="770562">
                  <a:extLst>
                    <a:ext uri="{9D8B030D-6E8A-4147-A177-3AD203B41FA5}">
                      <a16:colId xmlns:a16="http://schemas.microsoft.com/office/drawing/2014/main" val="3178344579"/>
                    </a:ext>
                  </a:extLst>
                </a:gridCol>
                <a:gridCol w="1099335">
                  <a:extLst>
                    <a:ext uri="{9D8B030D-6E8A-4147-A177-3AD203B41FA5}">
                      <a16:colId xmlns:a16="http://schemas.microsoft.com/office/drawing/2014/main" val="1172160903"/>
                    </a:ext>
                  </a:extLst>
                </a:gridCol>
                <a:gridCol w="1407559">
                  <a:extLst>
                    <a:ext uri="{9D8B030D-6E8A-4147-A177-3AD203B41FA5}">
                      <a16:colId xmlns:a16="http://schemas.microsoft.com/office/drawing/2014/main" val="4210331686"/>
                    </a:ext>
                  </a:extLst>
                </a:gridCol>
                <a:gridCol w="1695045">
                  <a:extLst>
                    <a:ext uri="{9D8B030D-6E8A-4147-A177-3AD203B41FA5}">
                      <a16:colId xmlns:a16="http://schemas.microsoft.com/office/drawing/2014/main" val="3319279726"/>
                    </a:ext>
                  </a:extLst>
                </a:gridCol>
                <a:gridCol w="1145663">
                  <a:extLst>
                    <a:ext uri="{9D8B030D-6E8A-4147-A177-3AD203B41FA5}">
                      <a16:colId xmlns:a16="http://schemas.microsoft.com/office/drawing/2014/main" val="3176031073"/>
                    </a:ext>
                  </a:extLst>
                </a:gridCol>
                <a:gridCol w="1145663">
                  <a:extLst>
                    <a:ext uri="{9D8B030D-6E8A-4147-A177-3AD203B41FA5}">
                      <a16:colId xmlns:a16="http://schemas.microsoft.com/office/drawing/2014/main" val="51353154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(ns)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clk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oe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data_in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data_out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external_</a:t>
                      </a:r>
                    </a:p>
                    <a:p>
                      <a:pPr algn="ctr" fontAlgn="b"/>
                      <a:r>
                        <a:rPr lang="en-CA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drive_enable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external_data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io_pin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8006587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XX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AA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AA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9071287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20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55</a:t>
                      </a:r>
                      <a:endParaRPr lang="en-CA" sz="2000" b="0" i="0" u="none" strike="noStrike" dirty="0">
                        <a:solidFill>
                          <a:schemeClr val="accent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55</a:t>
                      </a:r>
                      <a:endParaRPr lang="en-CA" sz="2000" b="0" i="0" u="none" strike="noStrike" dirty="0">
                        <a:solidFill>
                          <a:schemeClr val="accent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6049527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30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F0</a:t>
                      </a:r>
                      <a:endParaRPr lang="en-CA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ZZ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F0</a:t>
                      </a:r>
                      <a:endParaRPr lang="en-CA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1919422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50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F0</a:t>
                      </a:r>
                      <a:endParaRPr lang="en-CA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55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ZZ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F0</a:t>
                      </a:r>
                      <a:endParaRPr lang="en-CA" sz="2000" b="0" i="0" u="none" strike="noStrike" dirty="0">
                        <a:solidFill>
                          <a:srgbClr val="FF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6125596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75</a:t>
                      </a:r>
                      <a:endParaRPr lang="en-CA" sz="2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F0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A5</a:t>
                      </a:r>
                      <a:endParaRPr lang="en-CA" sz="2000" b="0" i="0" u="none" strike="noStrike" dirty="0">
                        <a:solidFill>
                          <a:schemeClr val="accent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>
                          <a:solidFill>
                            <a:srgbClr val="000000"/>
                          </a:solidFill>
                          <a:effectLst/>
                        </a:rPr>
                        <a:t>A5</a:t>
                      </a:r>
                      <a:endParaRPr lang="en-CA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CA" sz="2000" b="0" u="none" strike="noStrike" dirty="0">
                          <a:solidFill>
                            <a:schemeClr val="accent2"/>
                          </a:solidFill>
                          <a:effectLst/>
                        </a:rPr>
                        <a:t>A5</a:t>
                      </a:r>
                      <a:endParaRPr lang="en-CA" sz="2000" b="0" i="0" u="none" strike="noStrike" dirty="0">
                        <a:solidFill>
                          <a:schemeClr val="accent2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3087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1312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63D2A5D-7D2F-4C4F-BAD8-7DE349F6A6F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 fontScale="40000" lnSpcReduction="2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974EA-E266-46E5-B93E-1A12E099C41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0000" y="4961780"/>
            <a:ext cx="7688263" cy="500352"/>
          </a:xfrm>
        </p:spPr>
        <p:txBody>
          <a:bodyPr/>
          <a:lstStyle/>
          <a:p>
            <a:r>
              <a:rPr lang="en-US" dirty="0"/>
              <a:t>2. Understanding GPIO in SoC</a:t>
            </a:r>
          </a:p>
        </p:txBody>
      </p:sp>
    </p:spTree>
    <p:extLst>
      <p:ext uri="{BB962C8B-B14F-4D97-AF65-F5344CB8AC3E}">
        <p14:creationId xmlns:p14="http://schemas.microsoft.com/office/powerpoint/2010/main" val="9192796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48697-E240-9CE1-E4F0-84D6F3BE481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7563" y="246149"/>
            <a:ext cx="10515600" cy="620713"/>
          </a:xfrm>
        </p:spPr>
        <p:txBody>
          <a:bodyPr/>
          <a:lstStyle/>
          <a:p>
            <a:r>
              <a:rPr lang="en-CA" sz="2800" dirty="0">
                <a:latin typeface="+mn-ea"/>
                <a:ea typeface="+mn-ea"/>
              </a:rPr>
              <a:t>GPIO in SoC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0EED46B3-65BF-BF3B-D11D-2A7419AC6B78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92833079"/>
              </p:ext>
            </p:extLst>
          </p:nvPr>
        </p:nvGraphicFramePr>
        <p:xfrm>
          <a:off x="847288" y="969773"/>
          <a:ext cx="8294650" cy="5412348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001752">
                  <a:extLst>
                    <a:ext uri="{9D8B030D-6E8A-4147-A177-3AD203B41FA5}">
                      <a16:colId xmlns:a16="http://schemas.microsoft.com/office/drawing/2014/main" val="2032371262"/>
                    </a:ext>
                  </a:extLst>
                </a:gridCol>
                <a:gridCol w="7292898">
                  <a:extLst>
                    <a:ext uri="{9D8B030D-6E8A-4147-A177-3AD203B41FA5}">
                      <a16:colId xmlns:a16="http://schemas.microsoft.com/office/drawing/2014/main" val="530462942"/>
                    </a:ext>
                  </a:extLst>
                </a:gridCol>
              </a:tblGrid>
              <a:tr h="198367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600" b="1">
                          <a:effectLst/>
                        </a:rPr>
                        <a:t>항목</a:t>
                      </a:r>
                      <a:endParaRPr lang="ko-KR" altLang="en-US" sz="16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/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ko-KR" altLang="en-US" sz="1600" b="1" dirty="0">
                          <a:effectLst/>
                        </a:rPr>
                        <a:t>설명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/>
                </a:tc>
                <a:extLst>
                  <a:ext uri="{0D108BD9-81ED-4DB2-BD59-A6C34878D82A}">
                    <a16:rowId xmlns:a16="http://schemas.microsoft.com/office/drawing/2014/main" val="412507936"/>
                  </a:ext>
                </a:extLst>
              </a:tr>
              <a:tr h="512018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정의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GPIO</a:t>
                      </a:r>
                      <a:r>
                        <a:rPr lang="ko-KR" altLang="en-US" sz="1600" dirty="0">
                          <a:effectLst/>
                        </a:rPr>
                        <a:t>는 </a:t>
                      </a:r>
                      <a:r>
                        <a:rPr lang="en-US" altLang="ko-KR" sz="1600" dirty="0">
                          <a:effectLst/>
                        </a:rPr>
                        <a:t>SoC</a:t>
                      </a:r>
                      <a:r>
                        <a:rPr lang="ko-KR" altLang="en-US" sz="1600" dirty="0">
                          <a:effectLst/>
                        </a:rPr>
                        <a:t>에서 디지털 신호의 입출력을 처리하는 다목적 핀으로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입력 또는 출력으로 구성 가능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extLst>
                  <a:ext uri="{0D108BD9-81ED-4DB2-BD59-A6C34878D82A}">
                    <a16:rowId xmlns:a16="http://schemas.microsoft.com/office/drawing/2014/main" val="4181728175"/>
                  </a:ext>
                </a:extLst>
              </a:tr>
              <a:tr h="442198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구조 및 동작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입력 모드</a:t>
                      </a:r>
                      <a:r>
                        <a:rPr lang="en-US" altLang="ko-KR" sz="1600" dirty="0">
                          <a:effectLst/>
                        </a:rPr>
                        <a:t>: </a:t>
                      </a:r>
                      <a:r>
                        <a:rPr lang="ko-KR" altLang="en-US" sz="1600" dirty="0">
                          <a:effectLst/>
                        </a:rPr>
                        <a:t>외부 신호를 감지하고 </a:t>
                      </a:r>
                      <a:r>
                        <a:rPr lang="en-US" altLang="ko-KR" sz="1600" dirty="0">
                          <a:effectLst/>
                        </a:rPr>
                        <a:t>CPU</a:t>
                      </a:r>
                      <a:r>
                        <a:rPr lang="ko-KR" altLang="en-US" sz="1600" dirty="0">
                          <a:effectLst/>
                        </a:rPr>
                        <a:t>에 전달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출력 모드</a:t>
                      </a:r>
                      <a:r>
                        <a:rPr lang="en-US" altLang="ko-KR" sz="1600" dirty="0">
                          <a:effectLst/>
                        </a:rPr>
                        <a:t>: CPU </a:t>
                      </a:r>
                      <a:r>
                        <a:rPr lang="ko-KR" altLang="en-US" sz="1600" dirty="0">
                          <a:effectLst/>
                        </a:rPr>
                        <a:t>명령에 따라 외부 장치를 제어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extLst>
                  <a:ext uri="{0D108BD9-81ED-4DB2-BD59-A6C34878D82A}">
                    <a16:rowId xmlns:a16="http://schemas.microsoft.com/office/drawing/2014/main" val="2383040139"/>
                  </a:ext>
                </a:extLst>
              </a:tr>
              <a:tr h="512018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특징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각 핀은 독립적으로 입력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출력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또는 양방향으로 설정 가능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Active-High </a:t>
                      </a:r>
                      <a:r>
                        <a:rPr lang="ko-KR" altLang="en-US" sz="1600" dirty="0">
                          <a:effectLst/>
                        </a:rPr>
                        <a:t>또는 </a:t>
                      </a:r>
                      <a:r>
                        <a:rPr lang="en-US" altLang="ko-KR" sz="1600" dirty="0">
                          <a:effectLst/>
                        </a:rPr>
                        <a:t>Active-Low</a:t>
                      </a:r>
                      <a:r>
                        <a:rPr lang="ko-KR" altLang="en-US" sz="1600" dirty="0">
                          <a:effectLst/>
                        </a:rPr>
                        <a:t>로 동작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extLst>
                  <a:ext uri="{0D108BD9-81ED-4DB2-BD59-A6C34878D82A}">
                    <a16:rowId xmlns:a16="http://schemas.microsoft.com/office/drawing/2014/main" val="1895339281"/>
                  </a:ext>
                </a:extLst>
              </a:tr>
              <a:tr h="54855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구성 요소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내부 레지스터를 통해 핀 상태 제어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 err="1">
                          <a:effectLst/>
                        </a:rPr>
                        <a:t>풀업</a:t>
                      </a:r>
                      <a:r>
                        <a:rPr lang="en-US" altLang="ko-KR" sz="1600" dirty="0">
                          <a:effectLst/>
                        </a:rPr>
                        <a:t>/</a:t>
                      </a:r>
                      <a:r>
                        <a:rPr lang="ko-KR" altLang="en-US" sz="1600" dirty="0" err="1">
                          <a:effectLst/>
                        </a:rPr>
                        <a:t>풀다운</a:t>
                      </a:r>
                      <a:r>
                        <a:rPr lang="ko-KR" altLang="en-US" sz="1600" dirty="0">
                          <a:effectLst/>
                        </a:rPr>
                        <a:t> 저항 내장 가능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인터럽트 생성 기능 제공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extLst>
                  <a:ext uri="{0D108BD9-81ED-4DB2-BD59-A6C34878D82A}">
                    <a16:rowId xmlns:a16="http://schemas.microsoft.com/office/drawing/2014/main" val="2753241601"/>
                  </a:ext>
                </a:extLst>
              </a:tr>
              <a:tr h="54855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장점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유연한 핀 구성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다양한 전압 레벨 지원</a:t>
                      </a:r>
                      <a:r>
                        <a:rPr lang="en-US" altLang="ko-KR" sz="1600" dirty="0">
                          <a:effectLst/>
                        </a:rPr>
                        <a:t>(</a:t>
                      </a:r>
                      <a:r>
                        <a:rPr lang="ko-KR" altLang="en-US" sz="1600" dirty="0">
                          <a:effectLst/>
                        </a:rPr>
                        <a:t>예</a:t>
                      </a:r>
                      <a:r>
                        <a:rPr lang="en-US" altLang="ko-KR" sz="1600" dirty="0">
                          <a:effectLst/>
                        </a:rPr>
                        <a:t>: 1.8V, 3.3V)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저속 신호 처리에 적합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extLst>
                  <a:ext uri="{0D108BD9-81ED-4DB2-BD59-A6C34878D82A}">
                    <a16:rowId xmlns:a16="http://schemas.microsoft.com/office/drawing/2014/main" val="1365586559"/>
                  </a:ext>
                </a:extLst>
              </a:tr>
              <a:tr h="373460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단점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고속 신호 처리에는 부적합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외부 회로 설계 시 노이즈와 간섭 방지 필요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extLst>
                  <a:ext uri="{0D108BD9-81ED-4DB2-BD59-A6C34878D82A}">
                    <a16:rowId xmlns:a16="http://schemas.microsoft.com/office/drawing/2014/main" val="1503654920"/>
                  </a:ext>
                </a:extLst>
              </a:tr>
              <a:tr h="54855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응용 분야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LED </a:t>
                      </a:r>
                      <a:r>
                        <a:rPr lang="ko-KR" altLang="en-US" sz="1600" dirty="0">
                          <a:effectLst/>
                        </a:rPr>
                        <a:t>제어</a:t>
                      </a:r>
                      <a:r>
                        <a:rPr lang="en-US" altLang="ko-KR" sz="1600" dirty="0">
                          <a:effectLst/>
                        </a:rPr>
                        <a:t>, </a:t>
                      </a:r>
                      <a:r>
                        <a:rPr lang="ko-KR" altLang="en-US" sz="1600" dirty="0">
                          <a:effectLst/>
                        </a:rPr>
                        <a:t>센서 데이터 수집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버튼 입력 처리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I2C, SPI </a:t>
                      </a:r>
                      <a:r>
                        <a:rPr lang="ko-KR" altLang="en-US" sz="1600" dirty="0">
                          <a:effectLst/>
                        </a:rPr>
                        <a:t>통신 인터페이스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extLst>
                  <a:ext uri="{0D108BD9-81ED-4DB2-BD59-A6C34878D82A}">
                    <a16:rowId xmlns:a16="http://schemas.microsoft.com/office/drawing/2014/main" val="680215217"/>
                  </a:ext>
                </a:extLst>
              </a:tr>
              <a:tr h="548553">
                <a:tc>
                  <a:txBody>
                    <a:bodyPr/>
                    <a:lstStyle/>
                    <a:p>
                      <a:pPr algn="ctr" fontAlgn="base" latinLnBrk="0"/>
                      <a:r>
                        <a:rPr lang="ko-KR" altLang="en-US" sz="1600" b="1" dirty="0">
                          <a:effectLst/>
                        </a:rPr>
                        <a:t>고급 기능</a:t>
                      </a:r>
                      <a:endParaRPr lang="ko-KR" altLang="en-US" sz="16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인터럽트 지원</a:t>
                      </a:r>
                      <a:r>
                        <a:rPr lang="en-US" altLang="ko-KR" sz="1600" dirty="0">
                          <a:effectLst/>
                        </a:rPr>
                        <a:t>(</a:t>
                      </a:r>
                      <a:r>
                        <a:rPr lang="ko-KR" altLang="en-US" sz="1600" dirty="0" err="1">
                          <a:effectLst/>
                        </a:rPr>
                        <a:t>엣지</a:t>
                      </a:r>
                      <a:r>
                        <a:rPr lang="ko-KR" altLang="en-US" sz="1600" dirty="0">
                          <a:effectLst/>
                        </a:rPr>
                        <a:t> 또는 레벨 감지</a:t>
                      </a:r>
                      <a:r>
                        <a:rPr lang="en-US" altLang="ko-KR" sz="1600" dirty="0">
                          <a:effectLst/>
                        </a:rPr>
                        <a:t>)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</a:t>
                      </a:r>
                      <a:r>
                        <a:rPr lang="ko-KR" altLang="en-US" sz="1600" dirty="0">
                          <a:effectLst/>
                        </a:rPr>
                        <a:t>하드웨어 </a:t>
                      </a:r>
                      <a:r>
                        <a:rPr lang="ko-KR" altLang="en-US" sz="1600" dirty="0" err="1">
                          <a:effectLst/>
                        </a:rPr>
                        <a:t>디바운싱</a:t>
                      </a:r>
                      <a:br>
                        <a:rPr lang="en-US" altLang="ko-KR" sz="1600" dirty="0">
                          <a:effectLst/>
                        </a:rPr>
                      </a:br>
                      <a:r>
                        <a:rPr lang="en-US" altLang="ko-KR" sz="1600" dirty="0">
                          <a:effectLst/>
                        </a:rPr>
                        <a:t>- PWM </a:t>
                      </a:r>
                      <a:r>
                        <a:rPr lang="ko-KR" altLang="en-US" sz="1600" dirty="0">
                          <a:effectLst/>
                        </a:rPr>
                        <a:t>및 </a:t>
                      </a:r>
                      <a:r>
                        <a:rPr lang="en-US" altLang="ko-KR" sz="1600" dirty="0">
                          <a:effectLst/>
                        </a:rPr>
                        <a:t>Blink </a:t>
                      </a:r>
                      <a:r>
                        <a:rPr lang="ko-KR" altLang="en-US" sz="1600" dirty="0">
                          <a:effectLst/>
                        </a:rPr>
                        <a:t>기능 지원</a:t>
                      </a:r>
                      <a:endParaRPr lang="en-US" altLang="ko-KR" sz="16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32411" marR="32411" marT="16206" marB="16206" anchor="ctr"/>
                </a:tc>
                <a:extLst>
                  <a:ext uri="{0D108BD9-81ED-4DB2-BD59-A6C34878D82A}">
                    <a16:rowId xmlns:a16="http://schemas.microsoft.com/office/drawing/2014/main" val="3395182906"/>
                  </a:ext>
                </a:extLst>
              </a:tr>
            </a:tbl>
          </a:graphicData>
        </a:graphic>
      </p:graphicFrame>
      <p:pic>
        <p:nvPicPr>
          <p:cNvPr id="1028" name="Picture 4" descr="Digital IOs - XMC Tutorial">
            <a:extLst>
              <a:ext uri="{FF2B5EF4-FFF2-40B4-BE49-F238E27FC236}">
                <a16:creationId xmlns:a16="http://schemas.microsoft.com/office/drawing/2014/main" id="{DB7EBFC4-316F-9769-38FB-9981881BF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940" y="2876420"/>
            <a:ext cx="3257200" cy="2870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6895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284387-B7BA-49E2-B7AB-B33A68B3D4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79425" y="282576"/>
            <a:ext cx="11233150" cy="6540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/>
              <a:t>GPIO Overview</a:t>
            </a:r>
            <a:endParaRPr lang="en-US" dirty="0"/>
          </a:p>
        </p:txBody>
      </p:sp>
      <p:sp>
        <p:nvSpPr>
          <p:cNvPr id="29699" name="Content Placeholder 18">
            <a:extLst>
              <a:ext uri="{FF2B5EF4-FFF2-40B4-BE49-F238E27FC236}">
                <a16:creationId xmlns:a16="http://schemas.microsoft.com/office/drawing/2014/main" id="{52EB3C3E-30C4-4EFE-A0AE-51FDB62B17F2}"/>
              </a:ext>
            </a:extLst>
          </p:cNvPr>
          <p:cNvSpPr>
            <a:spLocks noGrp="1" noChangeArrowheads="1"/>
          </p:cNvSpPr>
          <p:nvPr>
            <p:ph sz="quarter" idx="4294967295"/>
          </p:nvPr>
        </p:nvSpPr>
        <p:spPr bwMode="auto">
          <a:xfrm>
            <a:off x="604008" y="1106489"/>
            <a:ext cx="11180763" cy="40862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2000" b="1" dirty="0"/>
              <a:t>General-purpose input/output (GPIO)</a:t>
            </a:r>
            <a:endParaRPr lang="en-US" altLang="en-US" sz="2000" b="1" dirty="0">
              <a:ea typeface="ＭＳ Ｐゴシック" panose="020B0600070205080204" pitchFamily="34" charset="-128"/>
            </a:endParaRPr>
          </a:p>
          <a:p>
            <a:pPr lvl="1"/>
            <a:r>
              <a:rPr lang="ko-KR" altLang="en-US" sz="1800" dirty="0">
                <a:ea typeface="ＭＳ Ｐゴシック" panose="020B0600070205080204" pitchFamily="34" charset="-128"/>
              </a:rPr>
              <a:t>일반적인 목적으로 사용되며</a:t>
            </a:r>
            <a:r>
              <a:rPr lang="en-US" altLang="ko-KR" sz="1800" dirty="0">
                <a:ea typeface="ＭＳ Ｐゴシック" panose="020B0600070205080204" pitchFamily="34" charset="-128"/>
              </a:rPr>
              <a:t>, </a:t>
            </a:r>
            <a:r>
              <a:rPr lang="ko-KR" altLang="en-US" sz="1800" dirty="0">
                <a:ea typeface="ＭＳ Ｐゴシック" panose="020B0600070205080204" pitchFamily="34" charset="-128"/>
              </a:rPr>
              <a:t>특별한 용도가 정의되지 않음</a:t>
            </a:r>
            <a:r>
              <a:rPr lang="en-US" altLang="ko-KR" sz="1800" dirty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ko-KR" altLang="en-US" sz="1800" dirty="0">
                <a:ea typeface="ＭＳ Ｐゴシック" panose="020B0600070205080204" pitchFamily="34" charset="-128"/>
              </a:rPr>
              <a:t>대부분의 응용 프로그램에서 널리 사용됨</a:t>
            </a:r>
            <a:r>
              <a:rPr lang="en-US" altLang="ko-KR" sz="1800" dirty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ko-KR" altLang="en-US" sz="1800" dirty="0">
                <a:ea typeface="ＭＳ Ｐゴシック" panose="020B0600070205080204" pitchFamily="34" charset="-128"/>
              </a:rPr>
              <a:t>입출력 방향은 방향 레지스터</a:t>
            </a:r>
            <a:r>
              <a:rPr lang="en-US" altLang="ko-KR" sz="1800" dirty="0">
                <a:ea typeface="ＭＳ Ｐゴシック" panose="020B0600070205080204" pitchFamily="34" charset="-128"/>
              </a:rPr>
              <a:t>(direction register)</a:t>
            </a:r>
            <a:r>
              <a:rPr lang="ko-KR" altLang="en-US" sz="1800" dirty="0">
                <a:ea typeface="ＭＳ Ｐゴシック" panose="020B0600070205080204" pitchFamily="34" charset="-128"/>
              </a:rPr>
              <a:t>에 의해 제어됨</a:t>
            </a:r>
            <a:r>
              <a:rPr lang="en-US" altLang="ko-KR" sz="1800" dirty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ko-KR" altLang="en-US" sz="1800" dirty="0">
                <a:ea typeface="ＭＳ Ｐゴシック" panose="020B0600070205080204" pitchFamily="34" charset="-128"/>
              </a:rPr>
              <a:t>특정 비트를 </a:t>
            </a:r>
            <a:r>
              <a:rPr lang="ko-KR" altLang="en-US" sz="1800" dirty="0" err="1">
                <a:ea typeface="ＭＳ Ｐゴシック" panose="020B0600070205080204" pitchFamily="34" charset="-128"/>
              </a:rPr>
              <a:t>마스킹하기</a:t>
            </a:r>
            <a:r>
              <a:rPr lang="ko-KR" altLang="en-US" sz="1800" dirty="0">
                <a:ea typeface="ＭＳ Ｐゴシック" panose="020B0600070205080204" pitchFamily="34" charset="-128"/>
              </a:rPr>
              <a:t> 위해 마스크 레지스터</a:t>
            </a:r>
            <a:r>
              <a:rPr lang="en-US" altLang="ko-KR" sz="1800" dirty="0">
                <a:ea typeface="ＭＳ Ｐゴシック" panose="020B0600070205080204" pitchFamily="34" charset="-128"/>
              </a:rPr>
              <a:t>(mask register)</a:t>
            </a:r>
            <a:r>
              <a:rPr lang="ko-KR" altLang="en-US" sz="1800" dirty="0">
                <a:ea typeface="ＭＳ Ｐゴシック" panose="020B0600070205080204" pitchFamily="34" charset="-128"/>
              </a:rPr>
              <a:t>가 자주 사용됨</a:t>
            </a:r>
            <a:r>
              <a:rPr lang="en-US" altLang="ko-KR" sz="1800" dirty="0">
                <a:ea typeface="ＭＳ Ｐゴシック" panose="020B0600070205080204" pitchFamily="34" charset="-128"/>
              </a:rPr>
              <a:t>.</a:t>
            </a: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C954F3-AC07-4974-8DED-5F96A226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857" y="3149601"/>
            <a:ext cx="5332689" cy="233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50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284387-B7BA-49E2-B7AB-B33A68B3D4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4674" y="447676"/>
            <a:ext cx="11233150" cy="6540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CA" dirty="0"/>
              <a:t>SoC AHB</a:t>
            </a:r>
            <a:r>
              <a:rPr lang="en-GB" dirty="0"/>
              <a:t> GPIO</a:t>
            </a:r>
            <a:endParaRPr lang="en-US" dirty="0"/>
          </a:p>
        </p:txBody>
      </p:sp>
      <p:sp>
        <p:nvSpPr>
          <p:cNvPr id="29699" name="Content Placeholder 18">
            <a:extLst>
              <a:ext uri="{FF2B5EF4-FFF2-40B4-BE49-F238E27FC236}">
                <a16:creationId xmlns:a16="http://schemas.microsoft.com/office/drawing/2014/main" id="{52EB3C3E-30C4-4EFE-A0AE-51FDB62B17F2}"/>
              </a:ext>
            </a:extLst>
          </p:cNvPr>
          <p:cNvSpPr>
            <a:spLocks noGrp="1" noChangeArrowheads="1"/>
          </p:cNvSpPr>
          <p:nvPr>
            <p:ph sz="quarter" idx="4294967295"/>
          </p:nvPr>
        </p:nvSpPr>
        <p:spPr bwMode="auto">
          <a:xfrm>
            <a:off x="452457" y="1112838"/>
            <a:ext cx="11180763" cy="4086225"/>
          </a:xfrm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000" b="1" dirty="0">
                <a:ea typeface="ＭＳ Ｐゴシック" panose="020B0600070205080204" pitchFamily="34" charset="-128"/>
              </a:rPr>
              <a:t>Basic hardware architecture</a:t>
            </a:r>
            <a:r>
              <a:rPr lang="en-US" altLang="en-US" dirty="0">
                <a:ea typeface="ＭＳ Ｐゴシック" panose="020B0600070205080204" pitchFamily="34" charset="-128"/>
              </a:rPr>
              <a:t> </a:t>
            </a:r>
          </a:p>
          <a:p>
            <a:pPr lvl="1"/>
            <a:r>
              <a:rPr lang="ko-KR" altLang="en-US" sz="1800" b="0" i="0" dirty="0">
                <a:effectLst/>
                <a:latin typeface="fkGroteskNeue"/>
              </a:rPr>
              <a:t>기본 레지스터인 데이터 입력</a:t>
            </a:r>
            <a:r>
              <a:rPr lang="en-US" altLang="ko-KR" sz="1800" b="0" i="0" dirty="0">
                <a:effectLst/>
                <a:latin typeface="fkGroteskNeue"/>
              </a:rPr>
              <a:t>(data in), </a:t>
            </a:r>
            <a:r>
              <a:rPr lang="ko-KR" altLang="en-US" sz="1800" b="0" i="0" dirty="0">
                <a:effectLst/>
                <a:latin typeface="fkGroteskNeue"/>
              </a:rPr>
              <a:t>데이터 출력</a:t>
            </a:r>
            <a:r>
              <a:rPr lang="en-US" altLang="ko-KR" sz="1800" b="0" i="0" dirty="0">
                <a:effectLst/>
                <a:latin typeface="fkGroteskNeue"/>
              </a:rPr>
              <a:t>(data out), </a:t>
            </a:r>
            <a:r>
              <a:rPr lang="ko-KR" altLang="en-US" sz="1800" b="0" i="0" dirty="0">
                <a:effectLst/>
                <a:latin typeface="fkGroteskNeue"/>
              </a:rPr>
              <a:t>방향 레지스터</a:t>
            </a:r>
            <a:r>
              <a:rPr lang="en-US" altLang="ko-KR" sz="1800" b="0" i="0" dirty="0">
                <a:effectLst/>
                <a:latin typeface="fkGroteskNeue"/>
              </a:rPr>
              <a:t>(direction register)</a:t>
            </a:r>
            <a:r>
              <a:rPr lang="ko-KR" altLang="en-US" sz="1800" b="0" i="0" dirty="0">
                <a:effectLst/>
                <a:latin typeface="fkGroteskNeue"/>
              </a:rPr>
              <a:t>만을 가지고 있음</a:t>
            </a:r>
            <a:r>
              <a:rPr lang="en-US" altLang="ko-KR" sz="1800" b="0" i="0" dirty="0">
                <a:effectLst/>
                <a:latin typeface="fkGroteskNeue"/>
              </a:rPr>
              <a:t>.</a:t>
            </a:r>
            <a:br>
              <a:rPr lang="ko-KR" altLang="en-US" dirty="0"/>
            </a:br>
            <a:endParaRPr lang="en-US" altLang="en-US" dirty="0">
              <a:ea typeface="ＭＳ Ｐゴシック" panose="020B0600070205080204" pitchFamily="34" charset="-128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822DA8-B37E-4185-9656-7D506D131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295" y="2578881"/>
            <a:ext cx="8934425" cy="2832018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F210D26-806C-4F36-8717-04C83A8BA376}"/>
              </a:ext>
            </a:extLst>
          </p:cNvPr>
          <p:cNvSpPr/>
          <p:nvPr/>
        </p:nvSpPr>
        <p:spPr>
          <a:xfrm>
            <a:off x="6912528" y="3649211"/>
            <a:ext cx="1812022" cy="1342239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03AE616-0053-4497-A7F3-7177A51D8776}"/>
              </a:ext>
            </a:extLst>
          </p:cNvPr>
          <p:cNvCxnSpPr/>
          <p:nvPr/>
        </p:nvCxnSpPr>
        <p:spPr>
          <a:xfrm>
            <a:off x="1233262" y="2235608"/>
            <a:ext cx="0" cy="3509554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79DFB19-8EB8-4D73-B7E3-5B753CB72D8A}"/>
              </a:ext>
            </a:extLst>
          </p:cNvPr>
          <p:cNvCxnSpPr/>
          <p:nvPr/>
        </p:nvCxnSpPr>
        <p:spPr>
          <a:xfrm>
            <a:off x="1111342" y="3807778"/>
            <a:ext cx="209006" cy="3714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9A3C4C6-8CBA-4C95-BED6-7A5F9BF905E0}"/>
              </a:ext>
            </a:extLst>
          </p:cNvPr>
          <p:cNvSpPr txBox="1"/>
          <p:nvPr/>
        </p:nvSpPr>
        <p:spPr>
          <a:xfrm>
            <a:off x="930454" y="3958590"/>
            <a:ext cx="3857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32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3A50A0-DC48-48A0-AFA7-28ED67495DB2}"/>
              </a:ext>
            </a:extLst>
          </p:cNvPr>
          <p:cNvCxnSpPr/>
          <p:nvPr/>
        </p:nvCxnSpPr>
        <p:spPr>
          <a:xfrm>
            <a:off x="3615655" y="4639112"/>
            <a:ext cx="0" cy="964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AC965EC-2EB7-49F0-A705-95DF8971A6F7}"/>
              </a:ext>
            </a:extLst>
          </p:cNvPr>
          <p:cNvSpPr txBox="1"/>
          <p:nvPr/>
        </p:nvSpPr>
        <p:spPr>
          <a:xfrm>
            <a:off x="2885813" y="5603846"/>
            <a:ext cx="1585514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 dirty="0"/>
              <a:t>AHB</a:t>
            </a:r>
            <a:r>
              <a:rPr lang="ko-KR" altLang="en-US" sz="1000" dirty="0"/>
              <a:t> </a:t>
            </a:r>
            <a:r>
              <a:rPr lang="en-US" altLang="ko-KR" sz="1000" dirty="0"/>
              <a:t>Bus</a:t>
            </a:r>
            <a:r>
              <a:rPr lang="ko-KR" altLang="en-US" sz="1000" dirty="0"/>
              <a:t>에서 내부 레지스터 공간으로 데이터와 신호의 흐름을 관리</a:t>
            </a:r>
            <a:endParaRPr lang="en-US" sz="10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94427A-E706-4856-A543-6B2AC3FE8EA4}"/>
              </a:ext>
            </a:extLst>
          </p:cNvPr>
          <p:cNvCxnSpPr/>
          <p:nvPr/>
        </p:nvCxnSpPr>
        <p:spPr>
          <a:xfrm flipV="1">
            <a:off x="5352176" y="2667699"/>
            <a:ext cx="0" cy="637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8BC91DC-84B3-4FBA-B6F1-0CDE4E5B53DD}"/>
              </a:ext>
            </a:extLst>
          </p:cNvPr>
          <p:cNvSpPr txBox="1"/>
          <p:nvPr/>
        </p:nvSpPr>
        <p:spPr>
          <a:xfrm>
            <a:off x="4070111" y="2108145"/>
            <a:ext cx="2724968" cy="55399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000" dirty="0"/>
              <a:t>MUX/DEMUX</a:t>
            </a:r>
            <a:r>
              <a:rPr lang="ko-KR" altLang="en-US" sz="1000" dirty="0"/>
              <a:t>의 </a:t>
            </a:r>
            <a:r>
              <a:rPr lang="en-US" altLang="ko-KR" sz="1000" dirty="0"/>
              <a:t>Select Signal </a:t>
            </a:r>
            <a:r>
              <a:rPr lang="ko-KR" altLang="en-US" sz="1000" dirty="0"/>
              <a:t>생성</a:t>
            </a:r>
            <a:endParaRPr lang="en-US" altLang="ko-KR" sz="1000" dirty="0"/>
          </a:p>
          <a:p>
            <a:pPr marL="228600" indent="-228600">
              <a:buFont typeface="+mj-lt"/>
              <a:buAutoNum type="arabicPeriod"/>
            </a:pPr>
            <a:r>
              <a:rPr lang="en-US" sz="1000" dirty="0"/>
              <a:t>AHB</a:t>
            </a:r>
            <a:r>
              <a:rPr lang="ko-KR" altLang="en-US" sz="1000" dirty="0"/>
              <a:t> </a:t>
            </a:r>
            <a:r>
              <a:rPr lang="en-US" altLang="ko-KR" sz="1000" dirty="0"/>
              <a:t>I/F</a:t>
            </a:r>
            <a:r>
              <a:rPr lang="ko-KR" altLang="en-US" sz="1000" dirty="0"/>
              <a:t>가 세 개의 내부 </a:t>
            </a:r>
            <a:r>
              <a:rPr lang="en-US" altLang="ko-KR" sz="1000" dirty="0"/>
              <a:t>register</a:t>
            </a:r>
            <a:r>
              <a:rPr lang="ko-KR" altLang="en-US" sz="1000" dirty="0"/>
              <a:t>중 어느 것을 읽거나 쓸지를 결정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47C83D-076D-44F2-87F9-519D05109D0B}"/>
              </a:ext>
            </a:extLst>
          </p:cNvPr>
          <p:cNvSpPr txBox="1"/>
          <p:nvPr/>
        </p:nvSpPr>
        <p:spPr>
          <a:xfrm>
            <a:off x="3439486" y="3464545"/>
            <a:ext cx="35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Yu Mincho Light" panose="020B0400000000000000" pitchFamily="18" charset="-128"/>
              </a:rPr>
              <a:t>①</a:t>
            </a:r>
            <a:endParaRPr lang="en-US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041012-E9EA-4FE7-BF79-5FE1638519D6}"/>
              </a:ext>
            </a:extLst>
          </p:cNvPr>
          <p:cNvSpPr txBox="1"/>
          <p:nvPr/>
        </p:nvSpPr>
        <p:spPr>
          <a:xfrm>
            <a:off x="5570209" y="2986480"/>
            <a:ext cx="35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Yu Mincho Light" panose="020B0400000000000000" pitchFamily="18" charset="-128"/>
              </a:rPr>
              <a:t>②</a:t>
            </a:r>
            <a:endParaRPr 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AC23B8-B5A7-47FB-ADD7-F06C12D6DD4E}"/>
              </a:ext>
            </a:extLst>
          </p:cNvPr>
          <p:cNvSpPr txBox="1"/>
          <p:nvPr/>
        </p:nvSpPr>
        <p:spPr>
          <a:xfrm>
            <a:off x="7642370" y="3355812"/>
            <a:ext cx="352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latin typeface="Yu Mincho Light" panose="020B0400000000000000" pitchFamily="18" charset="-128"/>
              </a:rPr>
              <a:t>③</a:t>
            </a:r>
            <a:endParaRPr lang="en-US" b="1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CE9FB6A-F8A0-4DEB-953E-391A4CF2F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442" y="4899294"/>
            <a:ext cx="1374447" cy="44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426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284387-B7BA-49E2-B7AB-B33A68B3D4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7563" y="360760"/>
            <a:ext cx="11233150" cy="6540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GB" dirty="0"/>
              <a:t>GPIO Registers</a:t>
            </a:r>
            <a:endParaRPr lang="en-US" dirty="0"/>
          </a:p>
        </p:txBody>
      </p:sp>
      <p:sp>
        <p:nvSpPr>
          <p:cNvPr id="29699" name="Content Placeholder 18">
            <a:extLst>
              <a:ext uri="{FF2B5EF4-FFF2-40B4-BE49-F238E27FC236}">
                <a16:creationId xmlns:a16="http://schemas.microsoft.com/office/drawing/2014/main" id="{52EB3C3E-30C4-4EFE-A0AE-51FDB62B17F2}"/>
              </a:ext>
            </a:extLst>
          </p:cNvPr>
          <p:cNvSpPr>
            <a:spLocks noGrp="1" noChangeArrowheads="1"/>
          </p:cNvSpPr>
          <p:nvPr>
            <p:ph sz="quarter" idx="4294967295"/>
          </p:nvPr>
        </p:nvSpPr>
        <p:spPr bwMode="auto">
          <a:xfrm>
            <a:off x="505618" y="1427361"/>
            <a:ext cx="11180763" cy="2474912"/>
          </a:xfrm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GB" sz="2000" b="1" dirty="0"/>
              <a:t>The GPIO peripheral registers include</a:t>
            </a:r>
            <a:endParaRPr lang="en-US" altLang="en-US" sz="2000" b="1" dirty="0">
              <a:ea typeface="ＭＳ Ｐゴシック" panose="020B0600070205080204" pitchFamily="34" charset="-128"/>
            </a:endParaRPr>
          </a:p>
          <a:p>
            <a:pPr lvl="1"/>
            <a:r>
              <a:rPr lang="ko-KR" altLang="en-US" sz="1800" dirty="0">
                <a:ea typeface="ＭＳ Ｐゴシック" panose="020B0600070205080204" pitchFamily="34" charset="-128"/>
              </a:rPr>
              <a:t>데이터 레지스터</a:t>
            </a:r>
          </a:p>
          <a:p>
            <a:pPr lvl="1"/>
            <a:r>
              <a:rPr lang="ko-KR" altLang="en-US" sz="1800" dirty="0">
                <a:ea typeface="ＭＳ Ｐゴシック" panose="020B0600070205080204" pitchFamily="34" charset="-128"/>
              </a:rPr>
              <a:t>입력 데이터</a:t>
            </a:r>
            <a:r>
              <a:rPr lang="en-US" altLang="ko-KR" sz="1800" dirty="0">
                <a:ea typeface="ＭＳ Ｐゴシック" panose="020B0600070205080204" pitchFamily="34" charset="-128"/>
              </a:rPr>
              <a:t>(Input data): </a:t>
            </a:r>
            <a:r>
              <a:rPr lang="ko-KR" altLang="en-US" sz="1800" dirty="0">
                <a:ea typeface="ＭＳ Ｐゴシック" panose="020B0600070205080204" pitchFamily="34" charset="-128"/>
              </a:rPr>
              <a:t>외부 장치로부터 읽어온 데이터를 저장</a:t>
            </a:r>
            <a:r>
              <a:rPr lang="en-US" altLang="ko-KR" sz="1800" dirty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ko-KR" altLang="en-US" sz="1800" dirty="0">
                <a:ea typeface="ＭＳ Ｐゴシック" panose="020B0600070205080204" pitchFamily="34" charset="-128"/>
              </a:rPr>
              <a:t>출력 데이터</a:t>
            </a:r>
            <a:r>
              <a:rPr lang="en-US" altLang="ko-KR" sz="1800" dirty="0">
                <a:ea typeface="ＭＳ Ｐゴシック" panose="020B0600070205080204" pitchFamily="34" charset="-128"/>
              </a:rPr>
              <a:t>(Output data): </a:t>
            </a:r>
            <a:r>
              <a:rPr lang="ko-KR" altLang="en-US" sz="1800" dirty="0">
                <a:ea typeface="ＭＳ Ｐゴシック" panose="020B0600070205080204" pitchFamily="34" charset="-128"/>
              </a:rPr>
              <a:t>외부 장치로 전송할 데이터를 저장</a:t>
            </a:r>
            <a:r>
              <a:rPr lang="en-US" altLang="ko-KR" sz="1800" dirty="0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ko-KR" altLang="en-US" sz="1800" dirty="0">
                <a:ea typeface="ＭＳ Ｐゴシック" panose="020B0600070205080204" pitchFamily="34" charset="-128"/>
              </a:rPr>
              <a:t>방향 레지스터</a:t>
            </a:r>
            <a:r>
              <a:rPr lang="en-US" altLang="ko-KR" sz="1800" dirty="0">
                <a:ea typeface="ＭＳ Ｐゴシック" panose="020B0600070205080204" pitchFamily="34" charset="-128"/>
              </a:rPr>
              <a:t>(Direction register): </a:t>
            </a:r>
            <a:r>
              <a:rPr lang="ko-KR" altLang="en-US" sz="1800" dirty="0">
                <a:ea typeface="ＭＳ Ｐゴシック" panose="020B0600070205080204" pitchFamily="34" charset="-128"/>
              </a:rPr>
              <a:t>읽기 또는 쓰기 동작을 제어</a:t>
            </a:r>
            <a:r>
              <a:rPr lang="en-US" altLang="ko-KR" sz="1800" dirty="0">
                <a:ea typeface="ＭＳ Ｐゴシック" panose="020B0600070205080204" pitchFamily="34" charset="-128"/>
              </a:rPr>
              <a:t>.</a:t>
            </a:r>
            <a:endParaRPr lang="en-US" altLang="en-US" sz="1800" dirty="0">
              <a:ea typeface="ＭＳ Ｐゴシック" panose="020B0600070205080204" pitchFamily="34" charset="-128"/>
            </a:endParaRPr>
          </a:p>
        </p:txBody>
      </p:sp>
      <p:graphicFrame>
        <p:nvGraphicFramePr>
          <p:cNvPr id="5" name="Content Placeholder 5">
            <a:extLst>
              <a:ext uri="{FF2B5EF4-FFF2-40B4-BE49-F238E27FC236}">
                <a16:creationId xmlns:a16="http://schemas.microsoft.com/office/drawing/2014/main" id="{78D901E9-EF89-4ED7-9F16-F0D44F2951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8852236"/>
              </p:ext>
            </p:extLst>
          </p:nvPr>
        </p:nvGraphicFramePr>
        <p:xfrm>
          <a:off x="885969" y="3902273"/>
          <a:ext cx="9923290" cy="1855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1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7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r>
                        <a:rPr lang="en-GB" sz="1800" dirty="0"/>
                        <a:t>Register</a:t>
                      </a:r>
                      <a:r>
                        <a:rPr lang="en-GB" sz="1800" baseline="0" dirty="0"/>
                        <a:t> </a:t>
                      </a:r>
                      <a:endParaRPr lang="en-GB" sz="1800" dirty="0"/>
                    </a:p>
                  </a:txBody>
                  <a:tcPr marL="121864" marR="121864" marT="45749" marB="45749"/>
                </a:tc>
                <a:tc>
                  <a:txBody>
                    <a:bodyPr/>
                    <a:lstStyle/>
                    <a:p>
                      <a:r>
                        <a:rPr lang="en-GB" sz="1800" baseline="0" dirty="0"/>
                        <a:t>Address</a:t>
                      </a:r>
                      <a:endParaRPr lang="en-GB" sz="1800" dirty="0"/>
                    </a:p>
                  </a:txBody>
                  <a:tcPr marL="121864" marR="121864" marT="45749" marB="45749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Size</a:t>
                      </a:r>
                    </a:p>
                  </a:txBody>
                  <a:tcPr marL="121864" marR="121864" marT="45749" marB="4574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GPIO base address</a:t>
                      </a:r>
                    </a:p>
                  </a:txBody>
                  <a:tcPr marL="121864" marR="121864" marT="45736" marB="45736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0x5300_0000</a:t>
                      </a:r>
                    </a:p>
                  </a:txBody>
                  <a:tcPr marL="121864" marR="121864" marT="45736" marB="45736"/>
                </a:tc>
                <a:tc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121864" marR="121864" marT="45736" marB="4573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Input Data </a:t>
                      </a:r>
                    </a:p>
                  </a:txBody>
                  <a:tcPr marL="121864" marR="121864" marT="45749" marB="457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0x5300_0000</a:t>
                      </a:r>
                    </a:p>
                  </a:txBody>
                  <a:tcPr marL="121864" marR="121864" marT="45749" marB="45749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4 Byte</a:t>
                      </a:r>
                    </a:p>
                  </a:txBody>
                  <a:tcPr marL="121864" marR="121864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Output Data </a:t>
                      </a:r>
                    </a:p>
                  </a:txBody>
                  <a:tcPr marL="121864" marR="121864" marT="45749" marB="457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0x5300_0004</a:t>
                      </a:r>
                    </a:p>
                  </a:txBody>
                  <a:tcPr marL="121864" marR="121864" marT="45749" marB="45749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4 Byte</a:t>
                      </a:r>
                    </a:p>
                  </a:txBody>
                  <a:tcPr marL="121864" marR="121864" marT="45749" marB="45749"/>
                </a:tc>
                <a:extLst>
                  <a:ext uri="{0D108BD9-81ED-4DB2-BD59-A6C34878D82A}">
                    <a16:rowId xmlns:a16="http://schemas.microsoft.com/office/drawing/2014/main" val="368641245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Direction </a:t>
                      </a:r>
                    </a:p>
                  </a:txBody>
                  <a:tcPr marL="121864" marR="121864" marT="45749" marB="4574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0x5300_0008</a:t>
                      </a:r>
                    </a:p>
                  </a:txBody>
                  <a:tcPr marL="121864" marR="121864" marT="45749" marB="45749"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4</a:t>
                      </a:r>
                      <a:r>
                        <a:rPr lang="en-GB" sz="1800" baseline="0" dirty="0"/>
                        <a:t> </a:t>
                      </a:r>
                      <a:r>
                        <a:rPr lang="en-GB" sz="1800" dirty="0"/>
                        <a:t>Byte</a:t>
                      </a:r>
                    </a:p>
                  </a:txBody>
                  <a:tcPr marL="121864" marR="121864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942F4099-ABDE-435F-90C9-9772A228F767}"/>
              </a:ext>
            </a:extLst>
          </p:cNvPr>
          <p:cNvSpPr/>
          <p:nvPr/>
        </p:nvSpPr>
        <p:spPr>
          <a:xfrm>
            <a:off x="637563" y="4605556"/>
            <a:ext cx="10268125" cy="142612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79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DUT(AHB GPIO Control)</a:t>
            </a:r>
            <a:endParaRPr lang="en-CA" sz="3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5AB350-149D-4EE6-A7FF-811E75A1A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13" y="1244410"/>
            <a:ext cx="3173703" cy="43691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3B9875-19DF-4752-9E65-C64981286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814" y="1244410"/>
            <a:ext cx="4114415" cy="515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069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E0A52-0F1E-F6F2-4817-2B28DEAB3C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309001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</a:t>
            </a:r>
            <a:r>
              <a:rPr lang="ko-KR" altLang="en-US" sz="3200" dirty="0"/>
              <a:t>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Test Bench(AHB GPIO Control)</a:t>
            </a:r>
            <a:endParaRPr lang="en-CA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B24AD6-1066-432D-82CA-950222869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70" y="1066057"/>
            <a:ext cx="4219575" cy="52292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2914B82-70FD-4BE6-BD62-25137CCADC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225" y="1066057"/>
            <a:ext cx="61245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5555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5C10B-FE32-0C97-4059-C66A70977A0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19854" y="311490"/>
            <a:ext cx="10515600" cy="620713"/>
          </a:xfrm>
        </p:spPr>
        <p:txBody>
          <a:bodyPr>
            <a:normAutofit/>
          </a:bodyPr>
          <a:lstStyle/>
          <a:p>
            <a:r>
              <a:rPr lang="en-US" sz="3200" dirty="0"/>
              <a:t>LAB2 </a:t>
            </a:r>
            <a:r>
              <a:rPr lang="en-US" altLang="ko-KR" sz="3200" dirty="0"/>
              <a:t>:</a:t>
            </a:r>
            <a:r>
              <a:rPr lang="ko-KR" altLang="en-US" sz="3200" dirty="0"/>
              <a:t> </a:t>
            </a:r>
            <a:r>
              <a:rPr lang="en-US" altLang="ko-KR" sz="3200" dirty="0"/>
              <a:t>Waveform</a:t>
            </a:r>
            <a:endParaRPr lang="en-CA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0D268B-20DE-447F-CEC8-3F3021FC82F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20118" y="1053663"/>
            <a:ext cx="10515600" cy="5056188"/>
          </a:xfrm>
        </p:spPr>
        <p:txBody>
          <a:bodyPr/>
          <a:lstStyle/>
          <a:p>
            <a:pPr marL="0" indent="0">
              <a:buNone/>
            </a:pPr>
            <a:endParaRPr lang="en-CA" altLang="ko-KR" dirty="0"/>
          </a:p>
          <a:p>
            <a:pPr lvl="1"/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233AEE-3530-4550-9DCB-D2248A502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2982" y="901295"/>
            <a:ext cx="8305800" cy="2466975"/>
          </a:xfrm>
          <a:prstGeom prst="rect">
            <a:avLst/>
          </a:prstGeom>
        </p:spPr>
      </p:pic>
      <p:graphicFrame>
        <p:nvGraphicFramePr>
          <p:cNvPr id="7" name="표 8">
            <a:extLst>
              <a:ext uri="{FF2B5EF4-FFF2-40B4-BE49-F238E27FC236}">
                <a16:creationId xmlns:a16="http://schemas.microsoft.com/office/drawing/2014/main" id="{CF1E9804-F801-4A80-B66D-00C38A540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900184"/>
              </p:ext>
            </p:extLst>
          </p:nvPr>
        </p:nvGraphicFramePr>
        <p:xfrm>
          <a:off x="698064" y="3489730"/>
          <a:ext cx="10559179" cy="3005355"/>
        </p:xfrm>
        <a:graphic>
          <a:graphicData uri="http://schemas.openxmlformats.org/drawingml/2006/table">
            <a:tbl>
              <a:tblPr firstRow="1" firstCol="1">
                <a:tableStyleId>{00A15C55-8517-42AA-B614-E9B94910E393}</a:tableStyleId>
              </a:tblPr>
              <a:tblGrid>
                <a:gridCol w="1837186">
                  <a:extLst>
                    <a:ext uri="{9D8B030D-6E8A-4147-A177-3AD203B41FA5}">
                      <a16:colId xmlns:a16="http://schemas.microsoft.com/office/drawing/2014/main" val="2797490653"/>
                    </a:ext>
                  </a:extLst>
                </a:gridCol>
                <a:gridCol w="3293944">
                  <a:extLst>
                    <a:ext uri="{9D8B030D-6E8A-4147-A177-3AD203B41FA5}">
                      <a16:colId xmlns:a16="http://schemas.microsoft.com/office/drawing/2014/main" val="2237639863"/>
                    </a:ext>
                  </a:extLst>
                </a:gridCol>
                <a:gridCol w="4337699">
                  <a:extLst>
                    <a:ext uri="{9D8B030D-6E8A-4147-A177-3AD203B41FA5}">
                      <a16:colId xmlns:a16="http://schemas.microsoft.com/office/drawing/2014/main" val="1081347838"/>
                    </a:ext>
                  </a:extLst>
                </a:gridCol>
                <a:gridCol w="1090350">
                  <a:extLst>
                    <a:ext uri="{9D8B030D-6E8A-4147-A177-3AD203B41FA5}">
                      <a16:colId xmlns:a16="http://schemas.microsoft.com/office/drawing/2014/main" val="1386440287"/>
                    </a:ext>
                  </a:extLst>
                </a:gridCol>
              </a:tblGrid>
              <a:tr h="240579"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sz="1400" b="1" dirty="0">
                          <a:effectLst/>
                        </a:rPr>
                        <a:t>테스트 단계</a:t>
                      </a:r>
                      <a:endParaRPr lang="ko-KR" altLang="en-US" sz="1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sz="1400" b="1">
                          <a:effectLst/>
                        </a:rPr>
                        <a:t>입력 조건</a:t>
                      </a:r>
                      <a:endParaRPr lang="ko-KR" altLang="en-US" sz="1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sz="1400" b="1">
                          <a:effectLst/>
                        </a:rPr>
                        <a:t>예상 결과</a:t>
                      </a:r>
                      <a:endParaRPr lang="ko-KR" altLang="en-US" sz="1400" b="1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/>
                </a:tc>
                <a:tc>
                  <a:txBody>
                    <a:bodyPr/>
                    <a:lstStyle/>
                    <a:p>
                      <a:pPr fontAlgn="t" latinLnBrk="0"/>
                      <a:r>
                        <a:rPr lang="ko-KR" altLang="en-US" sz="1400" b="1" dirty="0">
                          <a:effectLst/>
                        </a:rPr>
                        <a:t>결과 상태</a:t>
                      </a:r>
                      <a:endParaRPr lang="ko-KR" altLang="en-US" sz="1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/>
                </a:tc>
                <a:extLst>
                  <a:ext uri="{0D108BD9-81ED-4DB2-BD59-A6C34878D82A}">
                    <a16:rowId xmlns:a16="http://schemas.microsoft.com/office/drawing/2014/main" val="285690153"/>
                  </a:ext>
                </a:extLst>
              </a:tr>
              <a:tr h="46079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400" b="1" dirty="0">
                          <a:effectLst/>
                        </a:rPr>
                        <a:t>초기화</a:t>
                      </a:r>
                      <a:endParaRPr lang="ko-KR" altLang="en-US" sz="1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 </a:t>
                      </a:r>
                      <a:r>
                        <a:rPr lang="en-US" altLang="ko-KR" sz="1200" dirty="0" err="1">
                          <a:effectLst/>
                        </a:rPr>
                        <a:t>reset_n</a:t>
                      </a:r>
                      <a:r>
                        <a:rPr lang="en-US" altLang="ko-KR" sz="1200" dirty="0">
                          <a:effectLst/>
                        </a:rPr>
                        <a:t> = 0</a:t>
                      </a:r>
                      <a:br>
                        <a:rPr lang="en-US" altLang="ko-KR" sz="1200" dirty="0">
                          <a:effectLst/>
                        </a:rPr>
                      </a:br>
                      <a:r>
                        <a:rPr lang="en-US" altLang="ko-KR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모든 레지스터 초기화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 </a:t>
                      </a:r>
                      <a:r>
                        <a:rPr lang="en-US" altLang="ko-KR" sz="1200" dirty="0" err="1">
                          <a:effectLst/>
                        </a:rPr>
                        <a:t>gpio_out</a:t>
                      </a:r>
                      <a:r>
                        <a:rPr lang="en-US" altLang="ko-KR" sz="1200" dirty="0">
                          <a:effectLst/>
                        </a:rPr>
                        <a:t> = 0</a:t>
                      </a:r>
                      <a:br>
                        <a:rPr lang="en-US" altLang="ko-KR" sz="1200" dirty="0">
                          <a:effectLst/>
                        </a:rPr>
                      </a:br>
                      <a:r>
                        <a:rPr lang="en-US" altLang="ko-KR" sz="1200" dirty="0">
                          <a:effectLst/>
                        </a:rPr>
                        <a:t>- </a:t>
                      </a:r>
                      <a:r>
                        <a:rPr lang="en-US" altLang="ko-KR" sz="1200" dirty="0" err="1">
                          <a:effectLst/>
                        </a:rPr>
                        <a:t>gpio_dir</a:t>
                      </a:r>
                      <a:r>
                        <a:rPr lang="en-US" altLang="ko-KR" sz="1200" dirty="0">
                          <a:effectLst/>
                        </a:rPr>
                        <a:t> = 0   // </a:t>
                      </a:r>
                      <a:r>
                        <a:rPr lang="ko-KR" altLang="en-US" sz="1200" dirty="0">
                          <a:effectLst/>
                        </a:rPr>
                        <a:t>내부 레지스터 초기화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dirty="0">
                          <a:effectLst/>
                        </a:rPr>
                        <a:t>성공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extLst>
                  <a:ext uri="{0D108BD9-81ED-4DB2-BD59-A6C34878D82A}">
                    <a16:rowId xmlns:a16="http://schemas.microsoft.com/office/drawing/2014/main" val="3411720250"/>
                  </a:ext>
                </a:extLst>
              </a:tr>
              <a:tr h="46079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400" b="1" dirty="0">
                          <a:effectLst/>
                        </a:rPr>
                        <a:t>방향 레지스터 설정</a:t>
                      </a:r>
                      <a:endParaRPr lang="ko-KR" altLang="en-US" sz="1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주소</a:t>
                      </a:r>
                      <a:r>
                        <a:rPr lang="en-US" altLang="ko-KR" sz="1200" dirty="0">
                          <a:effectLst/>
                        </a:rPr>
                        <a:t>: 0</a:t>
                      </a:r>
                      <a:r>
                        <a:rPr lang="en-CA" sz="1200" dirty="0">
                          <a:effectLst/>
                        </a:rPr>
                        <a:t>x5300_0008</a:t>
                      </a:r>
                      <a:br>
                        <a:rPr lang="en-CA" sz="1200" dirty="0">
                          <a:effectLst/>
                        </a:rPr>
                      </a:br>
                      <a:r>
                        <a:rPr lang="en-CA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데이터</a:t>
                      </a:r>
                      <a:r>
                        <a:rPr lang="en-US" altLang="ko-KR" sz="1200" dirty="0">
                          <a:effectLst/>
                        </a:rPr>
                        <a:t>: 0</a:t>
                      </a:r>
                      <a:r>
                        <a:rPr lang="en-CA" sz="1200" dirty="0">
                          <a:effectLst/>
                        </a:rPr>
                        <a:t>b11110000</a:t>
                      </a:r>
                      <a:endParaRPr lang="en-CA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>
                          <a:effectLst/>
                        </a:rPr>
                        <a:t>- </a:t>
                      </a:r>
                      <a:r>
                        <a:rPr lang="ko-KR" altLang="en-US" sz="1200">
                          <a:effectLst/>
                        </a:rPr>
                        <a:t>상위 </a:t>
                      </a:r>
                      <a:r>
                        <a:rPr lang="en-US" altLang="ko-KR" sz="1200">
                          <a:effectLst/>
                        </a:rPr>
                        <a:t>4</a:t>
                      </a:r>
                      <a:r>
                        <a:rPr lang="ko-KR" altLang="en-US" sz="1200">
                          <a:effectLst/>
                        </a:rPr>
                        <a:t>비트는 출력</a:t>
                      </a:r>
                      <a:r>
                        <a:rPr lang="en-US" altLang="ko-KR" sz="1200">
                          <a:effectLst/>
                        </a:rPr>
                        <a:t>, </a:t>
                      </a:r>
                      <a:r>
                        <a:rPr lang="ko-KR" altLang="en-US" sz="1200">
                          <a:effectLst/>
                        </a:rPr>
                        <a:t>하위 </a:t>
                      </a:r>
                      <a:r>
                        <a:rPr lang="en-US" altLang="ko-KR" sz="1200">
                          <a:effectLst/>
                        </a:rPr>
                        <a:t>4</a:t>
                      </a:r>
                      <a:r>
                        <a:rPr lang="ko-KR" altLang="en-US" sz="1200">
                          <a:effectLst/>
                        </a:rPr>
                        <a:t>비트는 입력으로 설정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>
                          <a:effectLst/>
                        </a:rPr>
                        <a:t>성공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extLst>
                  <a:ext uri="{0D108BD9-81ED-4DB2-BD59-A6C34878D82A}">
                    <a16:rowId xmlns:a16="http://schemas.microsoft.com/office/drawing/2014/main" val="4093041629"/>
                  </a:ext>
                </a:extLst>
              </a:tr>
              <a:tr h="46079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400" b="1" dirty="0">
                          <a:effectLst/>
                        </a:rPr>
                        <a:t>출력 데이터 설정</a:t>
                      </a:r>
                      <a:endParaRPr lang="ko-KR" altLang="en-US" sz="1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주소</a:t>
                      </a:r>
                      <a:r>
                        <a:rPr lang="en-US" altLang="ko-KR" sz="1200" dirty="0">
                          <a:effectLst/>
                        </a:rPr>
                        <a:t>: 0</a:t>
                      </a:r>
                      <a:r>
                        <a:rPr lang="en-CA" sz="1200" dirty="0">
                          <a:effectLst/>
                        </a:rPr>
                        <a:t>x5300_0004</a:t>
                      </a:r>
                      <a:br>
                        <a:rPr lang="en-CA" sz="1200" dirty="0">
                          <a:effectLst/>
                        </a:rPr>
                      </a:br>
                      <a:r>
                        <a:rPr lang="en-CA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데이터</a:t>
                      </a:r>
                      <a:r>
                        <a:rPr lang="en-US" altLang="ko-KR" sz="1200" dirty="0">
                          <a:effectLst/>
                        </a:rPr>
                        <a:t>: 0</a:t>
                      </a:r>
                      <a:r>
                        <a:rPr lang="en-CA" sz="1200" dirty="0">
                          <a:effectLst/>
                        </a:rPr>
                        <a:t>b11001100</a:t>
                      </a:r>
                      <a:endParaRPr lang="en-CA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출력 핀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gpio_out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r>
                        <a:rPr lang="ko-KR" altLang="en-US" sz="1200" dirty="0">
                          <a:effectLst/>
                        </a:rPr>
                        <a:t>에 </a:t>
                      </a:r>
                      <a:r>
                        <a:rPr lang="en-US" altLang="ko-KR" sz="1200" dirty="0">
                          <a:effectLst/>
                        </a:rPr>
                        <a:t>1100</a:t>
                      </a:r>
                      <a:r>
                        <a:rPr lang="ko-KR" altLang="en-US" sz="1200" dirty="0">
                          <a:effectLst/>
                        </a:rPr>
                        <a:t>이 설정되고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입력 핀은 변경되지 않음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>
                          <a:effectLst/>
                        </a:rPr>
                        <a:t>성공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extLst>
                  <a:ext uri="{0D108BD9-81ED-4DB2-BD59-A6C34878D82A}">
                    <a16:rowId xmlns:a16="http://schemas.microsoft.com/office/drawing/2014/main" val="2393783984"/>
                  </a:ext>
                </a:extLst>
              </a:tr>
              <a:tr h="46079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400" b="1" dirty="0">
                          <a:effectLst/>
                        </a:rPr>
                        <a:t>입력 데이터 읽기</a:t>
                      </a:r>
                      <a:endParaRPr lang="ko-KR" altLang="en-US" sz="1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외부 입력 데이터</a:t>
                      </a:r>
                      <a:r>
                        <a:rPr lang="en-US" altLang="ko-KR" sz="1200">
                          <a:effectLst/>
                        </a:rPr>
                        <a:t>: gpio_in</a:t>
                      </a:r>
                      <a:r>
                        <a:rPr lang="en-US" altLang="ko-KR" sz="1200" dirty="0">
                          <a:effectLst/>
                        </a:rPr>
                        <a:t> = 0b10101010</a:t>
                      </a:r>
                      <a:endParaRPr lang="en-US" altLang="ko-KR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입력 핀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gpio_in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r>
                        <a:rPr lang="ko-KR" altLang="en-US" sz="1200" dirty="0">
                          <a:effectLst/>
                        </a:rPr>
                        <a:t>에서 읽힌 값이 출력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rdata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r>
                        <a:rPr lang="ko-KR" altLang="en-US" sz="1200" dirty="0">
                          <a:effectLst/>
                        </a:rPr>
                        <a:t>으로 반환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>
                          <a:effectLst/>
                        </a:rPr>
                        <a:t>성공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extLst>
                  <a:ext uri="{0D108BD9-81ED-4DB2-BD59-A6C34878D82A}">
                    <a16:rowId xmlns:a16="http://schemas.microsoft.com/office/drawing/2014/main" val="3665500612"/>
                  </a:ext>
                </a:extLst>
              </a:tr>
              <a:tr h="46079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400" b="1" dirty="0">
                          <a:effectLst/>
                        </a:rPr>
                        <a:t>출력 확인 </a:t>
                      </a:r>
                      <a:r>
                        <a:rPr lang="en-US" altLang="ko-KR" sz="1400" b="1" dirty="0">
                          <a:effectLst/>
                        </a:rPr>
                        <a:t>(</a:t>
                      </a:r>
                      <a:r>
                        <a:rPr lang="ko-KR" altLang="en-US" sz="1400" b="1" dirty="0">
                          <a:effectLst/>
                        </a:rPr>
                        <a:t>출력 모드</a:t>
                      </a:r>
                      <a:r>
                        <a:rPr lang="en-US" altLang="ko-KR" sz="1400" b="1" dirty="0">
                          <a:effectLst/>
                        </a:rPr>
                        <a:t>)</a:t>
                      </a:r>
                      <a:endParaRPr lang="ko-KR" altLang="en-US" sz="1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>
                          <a:effectLst/>
                        </a:rPr>
                        <a:t>- </a:t>
                      </a:r>
                      <a:r>
                        <a:rPr lang="ko-KR" altLang="en-US" sz="1200">
                          <a:effectLst/>
                        </a:rPr>
                        <a:t>방향 레지스터</a:t>
                      </a:r>
                      <a:r>
                        <a:rPr lang="en-US" altLang="ko-KR" sz="1200">
                          <a:effectLst/>
                        </a:rPr>
                        <a:t>(gpio_dir)</a:t>
                      </a:r>
                      <a:r>
                        <a:rPr lang="ko-KR" altLang="en-US" sz="1200">
                          <a:effectLst/>
                        </a:rPr>
                        <a:t>에 따라 상위 </a:t>
                      </a:r>
                      <a:r>
                        <a:rPr lang="en-US" altLang="ko-KR" sz="1200">
                          <a:effectLst/>
                        </a:rPr>
                        <a:t>4</a:t>
                      </a:r>
                      <a:r>
                        <a:rPr lang="ko-KR" altLang="en-US" sz="1200">
                          <a:effectLst/>
                        </a:rPr>
                        <a:t>비트만 출력 모드로 설정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출력 핀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gpio_out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r>
                        <a:rPr lang="ko-KR" altLang="en-US" sz="1200" dirty="0">
                          <a:effectLst/>
                        </a:rPr>
                        <a:t>의 상위 </a:t>
                      </a:r>
                      <a:r>
                        <a:rPr lang="en-US" altLang="ko-KR" sz="1200" dirty="0">
                          <a:effectLst/>
                        </a:rPr>
                        <a:t>4</a:t>
                      </a:r>
                      <a:r>
                        <a:rPr lang="ko-KR" altLang="en-US" sz="1200" dirty="0">
                          <a:effectLst/>
                        </a:rPr>
                        <a:t>비트는 설정된 값 유지 </a:t>
                      </a:r>
                      <a:r>
                        <a:rPr lang="en-US" altLang="ko-KR" sz="1200" dirty="0">
                          <a:effectLst/>
                        </a:rPr>
                        <a:t>(1100), </a:t>
                      </a:r>
                      <a:r>
                        <a:rPr lang="ko-KR" altLang="en-US" sz="1200" dirty="0">
                          <a:effectLst/>
                        </a:rPr>
                        <a:t>하위 </a:t>
                      </a:r>
                      <a:r>
                        <a:rPr lang="en-US" altLang="ko-KR" sz="1200" dirty="0">
                          <a:effectLst/>
                        </a:rPr>
                        <a:t>4</a:t>
                      </a:r>
                      <a:r>
                        <a:rPr lang="ko-KR" altLang="en-US" sz="1200" dirty="0">
                          <a:effectLst/>
                        </a:rPr>
                        <a:t>비트는 입력 모드로 유지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>
                          <a:effectLst/>
                        </a:rPr>
                        <a:t>성공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extLst>
                  <a:ext uri="{0D108BD9-81ED-4DB2-BD59-A6C34878D82A}">
                    <a16:rowId xmlns:a16="http://schemas.microsoft.com/office/drawing/2014/main" val="124752734"/>
                  </a:ext>
                </a:extLst>
              </a:tr>
              <a:tr h="460796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400" b="1" dirty="0">
                          <a:effectLst/>
                        </a:rPr>
                        <a:t>입력 확인 </a:t>
                      </a:r>
                      <a:r>
                        <a:rPr lang="en-US" altLang="ko-KR" sz="1400" b="1" dirty="0">
                          <a:effectLst/>
                        </a:rPr>
                        <a:t>(</a:t>
                      </a:r>
                      <a:r>
                        <a:rPr lang="ko-KR" altLang="en-US" sz="1400" b="1" dirty="0">
                          <a:effectLst/>
                        </a:rPr>
                        <a:t>입력 모드</a:t>
                      </a:r>
                      <a:r>
                        <a:rPr lang="en-US" altLang="ko-KR" sz="1400" b="1" dirty="0">
                          <a:effectLst/>
                        </a:rPr>
                        <a:t>)</a:t>
                      </a:r>
                      <a:endParaRPr lang="ko-KR" altLang="en-US" sz="1400" b="1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>
                          <a:effectLst/>
                        </a:rPr>
                        <a:t>- </a:t>
                      </a:r>
                      <a:r>
                        <a:rPr lang="ko-KR" altLang="en-US" sz="1200">
                          <a:effectLst/>
                        </a:rPr>
                        <a:t>방향 레지스터</a:t>
                      </a:r>
                      <a:r>
                        <a:rPr lang="en-US" altLang="ko-KR" sz="1200">
                          <a:effectLst/>
                        </a:rPr>
                        <a:t>(gpio_dir)</a:t>
                      </a:r>
                      <a:r>
                        <a:rPr lang="ko-KR" altLang="en-US" sz="1200">
                          <a:effectLst/>
                        </a:rPr>
                        <a:t>에 따라 하위 </a:t>
                      </a:r>
                      <a:r>
                        <a:rPr lang="en-US" altLang="ko-KR" sz="1200">
                          <a:effectLst/>
                        </a:rPr>
                        <a:t>4</a:t>
                      </a:r>
                      <a:r>
                        <a:rPr lang="ko-KR" altLang="en-US" sz="1200">
                          <a:effectLst/>
                        </a:rPr>
                        <a:t>비트만 입력 모드로 설정</a:t>
                      </a:r>
                      <a:endParaRPr lang="ko-KR" altLang="en-US" sz="120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en-US" altLang="ko-KR" sz="1200" dirty="0">
                          <a:effectLst/>
                        </a:rPr>
                        <a:t>- </a:t>
                      </a:r>
                      <a:r>
                        <a:rPr lang="ko-KR" altLang="en-US" sz="1200" dirty="0">
                          <a:effectLst/>
                        </a:rPr>
                        <a:t>입력 핀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en-US" altLang="ko-KR" sz="1200" dirty="0" err="1">
                          <a:effectLst/>
                        </a:rPr>
                        <a:t>gpio_in</a:t>
                      </a:r>
                      <a:r>
                        <a:rPr lang="en-US" altLang="ko-KR" sz="1200" dirty="0">
                          <a:effectLst/>
                        </a:rPr>
                        <a:t>)</a:t>
                      </a:r>
                      <a:r>
                        <a:rPr lang="ko-KR" altLang="en-US" sz="1200" dirty="0">
                          <a:effectLst/>
                        </a:rPr>
                        <a:t>의 하위 </a:t>
                      </a:r>
                      <a:r>
                        <a:rPr lang="en-US" altLang="ko-KR" sz="1200" dirty="0">
                          <a:effectLst/>
                        </a:rPr>
                        <a:t>4</a:t>
                      </a:r>
                      <a:r>
                        <a:rPr lang="ko-KR" altLang="en-US" sz="1200" dirty="0">
                          <a:effectLst/>
                        </a:rPr>
                        <a:t>비트가 읽히고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출력 핀의 상위 </a:t>
                      </a:r>
                      <a:r>
                        <a:rPr lang="en-US" altLang="ko-KR" sz="1200" dirty="0">
                          <a:effectLst/>
                        </a:rPr>
                        <a:t>4</a:t>
                      </a:r>
                      <a:r>
                        <a:rPr lang="ko-KR" altLang="en-US" sz="1200" dirty="0">
                          <a:effectLst/>
                        </a:rPr>
                        <a:t>비트는 변경되지 않음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dirty="0">
                          <a:effectLst/>
                        </a:rPr>
                        <a:t>성공</a:t>
                      </a:r>
                      <a:endParaRPr lang="ko-KR" altLang="en-US" sz="12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22546" marR="22546" marT="11273" marB="11273" anchor="ctr"/>
                </a:tc>
                <a:extLst>
                  <a:ext uri="{0D108BD9-81ED-4DB2-BD59-A6C34878D82A}">
                    <a16:rowId xmlns:a16="http://schemas.microsoft.com/office/drawing/2014/main" val="37084041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39926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12085</TotalTime>
  <Words>1632</Words>
  <Application>Microsoft Office PowerPoint</Application>
  <PresentationFormat>Widescreen</PresentationFormat>
  <Paragraphs>278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 Narrow</vt:lpstr>
      <vt:lpstr>fkGroteskNeue</vt:lpstr>
      <vt:lpstr>맑은 고딕</vt:lpstr>
      <vt:lpstr>ＭＳ Ｐゴシック</vt:lpstr>
      <vt:lpstr>Yu Mincho Light</vt:lpstr>
      <vt:lpstr>나눔스퀘어 네오 Regular</vt:lpstr>
      <vt:lpstr>Arial</vt:lpstr>
      <vt:lpstr>Office 테마</vt:lpstr>
      <vt:lpstr>SoC101 </vt:lpstr>
      <vt:lpstr>PowerPoint Presentation</vt:lpstr>
      <vt:lpstr>PowerPoint Presentation</vt:lpstr>
      <vt:lpstr>GPIO Component in SoC</vt:lpstr>
      <vt:lpstr>Digital Logic Level</vt:lpstr>
      <vt:lpstr>CMOS Transistor</vt:lpstr>
      <vt:lpstr>Push–Pull Output</vt:lpstr>
      <vt:lpstr>Open Collector </vt:lpstr>
      <vt:lpstr>Tri-state Output</vt:lpstr>
      <vt:lpstr>LAB1 : DUT(Control IO at Tri-state buffer)</vt:lpstr>
      <vt:lpstr>LAB1 : Test Bench(Control IO at Tri-state buffer)</vt:lpstr>
      <vt:lpstr>LAB1 : Waveform</vt:lpstr>
      <vt:lpstr>PowerPoint Presentation</vt:lpstr>
      <vt:lpstr>GPIO in SoC</vt:lpstr>
      <vt:lpstr>GPIO Overview</vt:lpstr>
      <vt:lpstr>SoC AHB GPIO</vt:lpstr>
      <vt:lpstr>GPIO Registers</vt:lpstr>
      <vt:lpstr>LAB2 : DUT(AHB GPIO Control)</vt:lpstr>
      <vt:lpstr>LAB2 : Test Bench(AHB GPIO Control)</vt:lpstr>
      <vt:lpstr>LAB2 : Waveform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 우승안</cp:lastModifiedBy>
  <cp:revision>684</cp:revision>
  <dcterms:created xsi:type="dcterms:W3CDTF">2024-09-20T05:42:48Z</dcterms:created>
  <dcterms:modified xsi:type="dcterms:W3CDTF">2026-06-08T16:03:56Z</dcterms:modified>
</cp:coreProperties>
</file>